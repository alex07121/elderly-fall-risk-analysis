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6858000" cx="12192000"/>
  <p:notesSz cx="6858000" cy="12192000"/>
  <p:embeddedFontLst>
    <p:embeddedFont>
      <p:font typeface="Robot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20" Type="http://schemas.openxmlformats.org/officeDocument/2006/relationships/slide" Target="slides/slide16.xml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schemas.openxmlformats.org/officeDocument/2006/relationships/font" Target="fonts/Roboto-bold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faebad93d7_1_2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" name="Google Shape;20;g3faebad93d7_1_2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aee5d6cd9_28_9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3faee5d6cd9_28_9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e7e4dae4_53_7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ae7e4dae4_53_7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aee5d6cd9_0_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g3faee5d6cd9_0_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faee5d6cd9_0_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aee5d6cd9_0_5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g3faee5d6cd9_0_5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faee5d6cd9_0_5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aee5d6cd9_28_8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aee5d6cd9_28_8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aee5d6cd9_24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g3faee5d6cd9_24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aee5d6cd9_24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aee5d6cd9_28_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g3faee5d6cd9_28_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faee5d6cd9_28_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aee5d6cd9_28_5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g3faee5d6cd9_28_5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faee5d6cd9_28_5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aee5d6cd9_49_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aee5d6cd9_49_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aee5d6cd9_26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g3faee5d6cd9_26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faee5d6cd9_26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aee5d6cd9_26_4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g3faee5d6cd9_26_4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faee5d6cd9_26_4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aee5d6cd9_0_1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g3faee5d6cd9_0_1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faee5d6cd9_0_1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aee5d6cd9_0_1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g3faee5d6cd9_0_1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faee5d6cd9_0_1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aee5d6cd9_27_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g3faee5d6cd9_27_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faee5d6cd9_27_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aee5d6cd9_29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g3faee5d6cd9_29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faee5d6cd9_29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aee5d6cd9_27_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g3faee5d6cd9_27_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faee5d6cd9_27_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aee5d6cd9_27_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g3faee5d6cd9_27_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faee5d6cd9_27_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aee5d6cd9_27_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g3faee5d6cd9_27_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faee5d6cd9_27_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aee5d6cd9_27_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g3faee5d6cd9_27_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faee5d6cd9_27_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aee5d6cd9_28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g3faee5d6cd9_28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faee5d6cd9_28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aee5d6cd9_0_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g3faee5d6cd9_0_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faee5d6cd9_0_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aee5d6cd9_0_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g3faee5d6cd9_0_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faee5d6cd9_0_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aee5d6cd9_0_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g3faee5d6cd9_0_6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faee5d6cd9_0_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aee5d6cd9_0_8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g3faee5d6cd9_0_8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faee5d6cd9_0_8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ebad93d7_32_0)">
  <p:cSld name="Generated (g3faebad93d7_32_0)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hyperlink" Target="https://pubmed.ncbi.nlm.nih.gov/23350947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hyperlink" Target="https://pubmed.ncbi.nlm.nih.gov/16914068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hyperlink" Target="https://platform.who.int/docs/default-source/mca-documents/policy-documents/operational-guidance/EGY-CC-10-01-OPERATIONALGUIDANCE-2015-eng-Practice-Guidelines-Family-Physicians-All-Vols.pdf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hyperlink" Target="https://www.cdc.gov/steadi/pdf/Steadi-Coordinated-Care-Plan.pdf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Relationship Id="rId4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png"/><Relationship Id="rId4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Relationship Id="rId4" Type="http://schemas.openxmlformats.org/officeDocument/2006/relationships/hyperlink" Target="https://www.frontiersin.org/journals/public-health/articles/10.3389/fpubh.2017.00030/full?utm_source=chatgpt.com" TargetMode="External"/><Relationship Id="rId5" Type="http://schemas.openxmlformats.org/officeDocument/2006/relationships/hyperlink" Target="https://www.who.int/health-topics/ageing/improving-understanding-measurement-and-monitoring-of-healthy-ageing?utm_source=chatgpt.com#tab=tab_1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Relationship Id="rId4" Type="http://schemas.openxmlformats.org/officeDocument/2006/relationships/hyperlink" Target="https://www.frontiersin.org/journals/public-health/articles/10.3389/fpubh.2017.00030/full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Relationship Id="rId4" Type="http://schemas.openxmlformats.org/officeDocument/2006/relationships/hyperlink" Target="https://pubmed.ncbi.nlm.nih.gov/30583909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Relationship Id="rId4" Type="http://schemas.openxmlformats.org/officeDocument/2006/relationships/hyperlink" Target="https://pubmed.ncbi.nlm.nih.gov/3426068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3D4C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4"/>
          <p:cNvSpPr/>
          <p:nvPr/>
        </p:nvSpPr>
        <p:spPr>
          <a:xfrm>
            <a:off x="914410" y="893779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GROUP 3 · PHASE 2 · FINAL PRESENTATION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/>
          <p:nvPr/>
        </p:nvSpPr>
        <p:spPr>
          <a:xfrm>
            <a:off x="914400" y="1415609"/>
            <a:ext cx="11113500" cy="27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Georgia"/>
              <a:buNone/>
            </a:pPr>
            <a:r>
              <a:rPr b="1" lang="en-US" sz="6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Elderly Fall </a:t>
            </a:r>
            <a:endParaRPr b="1" sz="6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Georgia"/>
              <a:buNone/>
            </a:pPr>
            <a:r>
              <a:rPr b="1" lang="en-US" sz="6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Risk Analysis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4"/>
          <p:cNvSpPr/>
          <p:nvPr/>
        </p:nvSpPr>
        <p:spPr>
          <a:xfrm>
            <a:off x="914400" y="4039187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>
            <a:off x="914400" y="530352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LIAO Sen Chun  ·  KONG Chak Pan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KWAN Kwan Ip  ·  LAI Chi Fung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5"/>
          <p:cNvGrpSpPr/>
          <p:nvPr/>
        </p:nvGrpSpPr>
        <p:grpSpPr>
          <a:xfrm>
            <a:off x="542925" y="266700"/>
            <a:ext cx="11058600" cy="1143150"/>
            <a:chOff x="542925" y="266700"/>
            <a:chExt cx="11058600" cy="1143150"/>
          </a:xfrm>
        </p:grpSpPr>
        <p:sp>
          <p:nvSpPr>
            <p:cNvPr id="23" name="Google Shape;23;p5"/>
            <p:cNvSpPr txBox="1"/>
            <p:nvPr/>
          </p:nvSpPr>
          <p:spPr>
            <a:xfrm>
              <a:off x="542925" y="266700"/>
              <a:ext cx="11058600" cy="3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28090"/>
                  </a:solidFill>
                  <a:latin typeface="Calibri"/>
                  <a:ea typeface="Calibri"/>
                  <a:cs typeface="Calibri"/>
                  <a:sym typeface="Calibri"/>
                </a:rPr>
                <a:t>PROJECT GOALS</a:t>
              </a:r>
              <a:endParaRPr b="1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5"/>
            <p:cNvSpPr txBox="1"/>
            <p:nvPr/>
          </p:nvSpPr>
          <p:spPr>
            <a:xfrm>
              <a:off x="542925" y="590550"/>
              <a:ext cx="110586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0F3D4C"/>
                  </a:solidFill>
                  <a:latin typeface="Georgia"/>
                  <a:ea typeface="Georgia"/>
                  <a:cs typeface="Georgia"/>
                  <a:sym typeface="Georgia"/>
                </a:rPr>
                <a:t>Our Primary Project Aims</a:t>
              </a:r>
              <a:endParaRPr b="1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5" name="Google Shape;25;p5"/>
          <p:cNvGrpSpPr/>
          <p:nvPr/>
        </p:nvGrpSpPr>
        <p:grpSpPr>
          <a:xfrm>
            <a:off x="542925" y="1714500"/>
            <a:ext cx="3476700" cy="4000500"/>
            <a:chOff x="542925" y="1714500"/>
            <a:chExt cx="3476700" cy="4000500"/>
          </a:xfrm>
        </p:grpSpPr>
        <p:sp>
          <p:nvSpPr>
            <p:cNvPr id="26" name="Google Shape;26;p5"/>
            <p:cNvSpPr/>
            <p:nvPr/>
          </p:nvSpPr>
          <p:spPr>
            <a:xfrm>
              <a:off x="542925" y="1714500"/>
              <a:ext cx="3476700" cy="4000500"/>
            </a:xfrm>
            <a:prstGeom prst="roundRect">
              <a:avLst>
                <a:gd fmla="val 1095" name="adj"/>
              </a:avLst>
            </a:prstGeom>
            <a:solidFill>
              <a:srgbClr val="FFFFFF"/>
            </a:solidFill>
            <a:ln cap="flat" cmpd="sng" w="14300">
              <a:solidFill>
                <a:srgbClr val="D8E6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5"/>
            <p:cNvSpPr/>
            <p:nvPr/>
          </p:nvSpPr>
          <p:spPr>
            <a:xfrm>
              <a:off x="542925" y="1714500"/>
              <a:ext cx="76200" cy="4000500"/>
            </a:xfrm>
            <a:prstGeom prst="rect">
              <a:avLst/>
            </a:prstGeom>
            <a:solidFill>
              <a:srgbClr val="0280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5"/>
            <p:cNvSpPr txBox="1"/>
            <p:nvPr/>
          </p:nvSpPr>
          <p:spPr>
            <a:xfrm>
              <a:off x="857250" y="2095500"/>
              <a:ext cx="28575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F3D4C"/>
                  </a:solidFill>
                  <a:latin typeface="Georgia"/>
                  <a:ea typeface="Georgia"/>
                  <a:cs typeface="Georgia"/>
                  <a:sym typeface="Georgia"/>
                </a:rPr>
                <a:t>Predicting Risk</a:t>
              </a:r>
              <a:endParaRPr b="1" sz="2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1" lang="en-US" sz="2300">
                  <a:solidFill>
                    <a:srgbClr val="028090"/>
                  </a:solidFill>
                  <a:latin typeface="Georgia"/>
                  <a:ea typeface="Georgia"/>
                  <a:cs typeface="Georgia"/>
                  <a:sym typeface="Georgia"/>
                </a:rPr>
                <a:t>"Early Warning"</a:t>
              </a:r>
              <a:endParaRPr i="1" sz="230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  <a:t>• Establish a</a:t>
              </a:r>
              <a:r>
                <a:rPr b="1" lang="en-US" sz="2200">
                  <a:solidFill>
                    <a:srgbClr val="00A896"/>
                  </a:solidFill>
                  <a:latin typeface="Calibri"/>
                  <a:ea typeface="Calibri"/>
                  <a:cs typeface="Calibri"/>
                  <a:sym typeface="Calibri"/>
                </a:rPr>
                <a:t> highly accurate</a:t>
              </a:r>
              <a:r>
                <a:rPr b="0" lang="en-US" sz="22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  <a:t> and proactive </a:t>
              </a:r>
              <a:r>
                <a:rPr b="1" lang="en-US" sz="2200">
                  <a:solidFill>
                    <a:srgbClr val="00A896"/>
                  </a:solidFill>
                  <a:latin typeface="Calibri"/>
                  <a:ea typeface="Calibri"/>
                  <a:cs typeface="Calibri"/>
                  <a:sym typeface="Calibri"/>
                </a:rPr>
                <a:t>early-warning system</a:t>
              </a:r>
              <a:r>
                <a:rPr b="0" lang="en-US" sz="22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  <a:t> for care homes.</a:t>
              </a:r>
              <a:endParaRPr b="0" sz="22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t/>
              </a:r>
              <a:endParaRPr b="0" sz="17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29;p5"/>
          <p:cNvGrpSpPr/>
          <p:nvPr/>
        </p:nvGrpSpPr>
        <p:grpSpPr>
          <a:xfrm>
            <a:off x="4352925" y="1714500"/>
            <a:ext cx="3476700" cy="4000500"/>
            <a:chOff x="4352925" y="1714500"/>
            <a:chExt cx="3476700" cy="4000500"/>
          </a:xfrm>
        </p:grpSpPr>
        <p:sp>
          <p:nvSpPr>
            <p:cNvPr id="30" name="Google Shape;30;p5"/>
            <p:cNvSpPr/>
            <p:nvPr/>
          </p:nvSpPr>
          <p:spPr>
            <a:xfrm>
              <a:off x="4352925" y="1714500"/>
              <a:ext cx="3476700" cy="4000500"/>
            </a:xfrm>
            <a:prstGeom prst="roundRect">
              <a:avLst>
                <a:gd fmla="val 1095" name="adj"/>
              </a:avLst>
            </a:prstGeom>
            <a:solidFill>
              <a:srgbClr val="FFFFFF"/>
            </a:solidFill>
            <a:ln cap="flat" cmpd="sng" w="14300">
              <a:solidFill>
                <a:srgbClr val="D8E6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5"/>
            <p:cNvSpPr/>
            <p:nvPr/>
          </p:nvSpPr>
          <p:spPr>
            <a:xfrm>
              <a:off x="4352925" y="1714500"/>
              <a:ext cx="76200" cy="4000500"/>
            </a:xfrm>
            <a:prstGeom prst="rect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5"/>
            <p:cNvSpPr txBox="1"/>
            <p:nvPr/>
          </p:nvSpPr>
          <p:spPr>
            <a:xfrm>
              <a:off x="4667250" y="2095500"/>
              <a:ext cx="28575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F3D4C"/>
                  </a:solidFill>
                  <a:latin typeface="Georgia"/>
                  <a:ea typeface="Georgia"/>
                  <a:cs typeface="Georgia"/>
                  <a:sym typeface="Georgia"/>
                </a:rPr>
                <a:t>Explaining Why</a:t>
              </a:r>
              <a:endParaRPr b="1" sz="2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1" lang="en-US" sz="2300">
                  <a:solidFill>
                    <a:srgbClr val="00A896"/>
                  </a:solidFill>
                  <a:latin typeface="Georgia"/>
                  <a:ea typeface="Georgia"/>
                  <a:cs typeface="Georgia"/>
                  <a:sym typeface="Georgia"/>
                </a:rPr>
                <a:t>"Interpretable"</a:t>
              </a:r>
              <a:endParaRPr b="0" i="1" sz="2300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  <a:t>• Transition from standard black-box models to a fully </a:t>
              </a:r>
              <a:r>
                <a:rPr b="1" lang="en-US" sz="2200">
                  <a:solidFill>
                    <a:srgbClr val="00A896"/>
                  </a:solidFill>
                  <a:latin typeface="Calibri"/>
                  <a:ea typeface="Calibri"/>
                  <a:cs typeface="Calibri"/>
                  <a:sym typeface="Calibri"/>
                </a:rPr>
                <a:t>explainable AI</a:t>
              </a:r>
              <a:r>
                <a:rPr b="0" lang="en-US" sz="22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  <a:t> logic.</a:t>
              </a:r>
              <a:endParaRPr b="0" sz="22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t/>
              </a:r>
              <a:endParaRPr b="0" sz="16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" name="Google Shape;33;p5"/>
          <p:cNvGrpSpPr/>
          <p:nvPr/>
        </p:nvGrpSpPr>
        <p:grpSpPr>
          <a:xfrm>
            <a:off x="8124825" y="1714500"/>
            <a:ext cx="3476700" cy="4000500"/>
            <a:chOff x="8162925" y="1714500"/>
            <a:chExt cx="3476700" cy="4000500"/>
          </a:xfrm>
        </p:grpSpPr>
        <p:sp>
          <p:nvSpPr>
            <p:cNvPr id="34" name="Google Shape;34;p5"/>
            <p:cNvSpPr/>
            <p:nvPr/>
          </p:nvSpPr>
          <p:spPr>
            <a:xfrm>
              <a:off x="8162925" y="1714500"/>
              <a:ext cx="3476700" cy="4000500"/>
            </a:xfrm>
            <a:prstGeom prst="roundRect">
              <a:avLst>
                <a:gd fmla="val 1095" name="adj"/>
              </a:avLst>
            </a:prstGeom>
            <a:solidFill>
              <a:srgbClr val="FFFFFF"/>
            </a:solidFill>
            <a:ln cap="flat" cmpd="sng" w="14300">
              <a:solidFill>
                <a:srgbClr val="D8E6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8162925" y="1714500"/>
              <a:ext cx="76200" cy="4000500"/>
            </a:xfrm>
            <a:prstGeom prst="rect">
              <a:avLst/>
            </a:prstGeom>
            <a:solidFill>
              <a:srgbClr val="0280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5"/>
            <p:cNvSpPr txBox="1"/>
            <p:nvPr/>
          </p:nvSpPr>
          <p:spPr>
            <a:xfrm>
              <a:off x="8477250" y="2095500"/>
              <a:ext cx="28575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F3D4C"/>
                  </a:solidFill>
                  <a:latin typeface="Georgia"/>
                  <a:ea typeface="Georgia"/>
                  <a:cs typeface="Georgia"/>
                  <a:sym typeface="Georgia"/>
                </a:rPr>
                <a:t>Minimal Action</a:t>
              </a:r>
              <a:endParaRPr b="1" sz="2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1" lang="en-US" sz="2300">
                  <a:solidFill>
                    <a:srgbClr val="028090"/>
                  </a:solidFill>
                  <a:latin typeface="Georgia"/>
                  <a:ea typeface="Georgia"/>
                  <a:cs typeface="Georgia"/>
                  <a:sym typeface="Georgia"/>
                </a:rPr>
                <a:t>"Fair &amp; Efficient"</a:t>
              </a:r>
              <a:endParaRPr b="0" i="1" sz="230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  <a:t>• Target </a:t>
              </a:r>
              <a:r>
                <a:rPr b="1" lang="en-US" sz="2200">
                  <a:solidFill>
                    <a:srgbClr val="00A896"/>
                  </a:solidFill>
                  <a:latin typeface="Calibri"/>
                  <a:ea typeface="Calibri"/>
                  <a:cs typeface="Calibri"/>
                  <a:sym typeface="Calibri"/>
                </a:rPr>
                <a:t>minimal, highly precise interventions</a:t>
              </a:r>
              <a:r>
                <a:rPr b="0" lang="en-US" sz="22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  <a:t> instead of sweeping protocols.</a:t>
              </a:r>
              <a:endParaRPr b="0" sz="22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t/>
              </a:r>
              <a:endParaRPr b="1" sz="16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6"/>
          <p:cNvGrpSpPr/>
          <p:nvPr/>
        </p:nvGrpSpPr>
        <p:grpSpPr>
          <a:xfrm>
            <a:off x="542925" y="266700"/>
            <a:ext cx="11058600" cy="1143150"/>
            <a:chOff x="542925" y="266700"/>
            <a:chExt cx="11058600" cy="1143150"/>
          </a:xfrm>
        </p:grpSpPr>
        <p:sp>
          <p:nvSpPr>
            <p:cNvPr id="42" name="Google Shape;42;p6"/>
            <p:cNvSpPr txBox="1"/>
            <p:nvPr/>
          </p:nvSpPr>
          <p:spPr>
            <a:xfrm>
              <a:off x="542925" y="266700"/>
              <a:ext cx="11058600" cy="3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28090"/>
                  </a:solidFill>
                  <a:latin typeface="Calibri"/>
                  <a:ea typeface="Calibri"/>
                  <a:cs typeface="Calibri"/>
                  <a:sym typeface="Calibri"/>
                </a:rPr>
                <a:t>THE PROBLEM — GLOBAL DATA</a:t>
              </a:r>
              <a:endParaRPr b="1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6"/>
            <p:cNvSpPr txBox="1"/>
            <p:nvPr/>
          </p:nvSpPr>
          <p:spPr>
            <a:xfrm>
              <a:off x="542925" y="590550"/>
              <a:ext cx="110586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0F3D4C"/>
                  </a:solidFill>
                  <a:latin typeface="Georgia"/>
                  <a:ea typeface="Georgia"/>
                  <a:cs typeface="Georgia"/>
                  <a:sym typeface="Georgia"/>
                </a:rPr>
                <a:t>Falls Among the Elderly — A Growing Crisis</a:t>
              </a:r>
              <a:endParaRPr b="1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44" name="Google Shape;44;p6"/>
          <p:cNvGrpSpPr/>
          <p:nvPr/>
        </p:nvGrpSpPr>
        <p:grpSpPr>
          <a:xfrm>
            <a:off x="542925" y="1714500"/>
            <a:ext cx="3476700" cy="3810000"/>
            <a:chOff x="542925" y="1714500"/>
            <a:chExt cx="3476700" cy="3810000"/>
          </a:xfrm>
        </p:grpSpPr>
        <p:sp>
          <p:nvSpPr>
            <p:cNvPr id="45" name="Google Shape;45;p6"/>
            <p:cNvSpPr/>
            <p:nvPr/>
          </p:nvSpPr>
          <p:spPr>
            <a:xfrm>
              <a:off x="542925" y="1714500"/>
              <a:ext cx="3476700" cy="3810000"/>
            </a:xfrm>
            <a:prstGeom prst="roundRect">
              <a:avLst>
                <a:gd fmla="val 1095" name="adj"/>
              </a:avLst>
            </a:prstGeom>
            <a:solidFill>
              <a:srgbClr val="FFFFFF"/>
            </a:solidFill>
            <a:ln cap="flat" cmpd="sng" w="14300">
              <a:solidFill>
                <a:srgbClr val="D8E6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>
              <a:off x="542925" y="1714500"/>
              <a:ext cx="76200" cy="3810000"/>
            </a:xfrm>
            <a:prstGeom prst="rect">
              <a:avLst/>
            </a:prstGeom>
            <a:solidFill>
              <a:srgbClr val="0280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6"/>
            <p:cNvSpPr txBox="1"/>
            <p:nvPr/>
          </p:nvSpPr>
          <p:spPr>
            <a:xfrm>
              <a:off x="857250" y="2000250"/>
              <a:ext cx="2857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400">
                  <a:solidFill>
                    <a:srgbClr val="028090"/>
                  </a:solidFill>
                  <a:latin typeface="Georgia"/>
                  <a:ea typeface="Georgia"/>
                  <a:cs typeface="Georgia"/>
                  <a:sym typeface="Georgia"/>
                </a:rPr>
                <a:t>45.7M</a:t>
              </a:r>
              <a:endParaRPr b="1" sz="540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  <a:t>NEW falls globally in 2021</a:t>
              </a:r>
              <a:br>
                <a:rPr b="1" lang="en-US" sz="22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lang="en-US" sz="2200">
                  <a:solidFill>
                    <a:srgbClr val="8FAAB5"/>
                  </a:solidFill>
                  <a:latin typeface="Calibri"/>
                  <a:ea typeface="Calibri"/>
                  <a:cs typeface="Calibri"/>
                  <a:sym typeface="Calibri"/>
                </a:rPr>
                <a:t>(adults 65+)</a:t>
              </a:r>
              <a:endParaRPr b="1" sz="22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028090"/>
                  </a:solidFill>
                  <a:latin typeface="Calibri"/>
                  <a:ea typeface="Calibri"/>
                  <a:cs typeface="Calibri"/>
                  <a:sym typeface="Calibri"/>
                </a:rPr>
                <a:t>https://www.cdc.gov/falls/data-research/index.html</a:t>
              </a:r>
              <a:endParaRPr sz="2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" name="Google Shape;48;p6"/>
          <p:cNvGrpSpPr/>
          <p:nvPr/>
        </p:nvGrpSpPr>
        <p:grpSpPr>
          <a:xfrm>
            <a:off x="4352925" y="1714500"/>
            <a:ext cx="3476700" cy="3810000"/>
            <a:chOff x="4352925" y="1714500"/>
            <a:chExt cx="3476700" cy="3810000"/>
          </a:xfrm>
        </p:grpSpPr>
        <p:sp>
          <p:nvSpPr>
            <p:cNvPr id="49" name="Google Shape;49;p6"/>
            <p:cNvSpPr/>
            <p:nvPr/>
          </p:nvSpPr>
          <p:spPr>
            <a:xfrm>
              <a:off x="4352925" y="1714500"/>
              <a:ext cx="3476700" cy="3810000"/>
            </a:xfrm>
            <a:prstGeom prst="roundRect">
              <a:avLst>
                <a:gd fmla="val 1095" name="adj"/>
              </a:avLst>
            </a:prstGeom>
            <a:solidFill>
              <a:srgbClr val="FFFFFF"/>
            </a:solidFill>
            <a:ln cap="flat" cmpd="sng" w="14300">
              <a:solidFill>
                <a:srgbClr val="D8E6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4352925" y="1714500"/>
              <a:ext cx="76200" cy="3810000"/>
            </a:xfrm>
            <a:prstGeom prst="rect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6"/>
            <p:cNvSpPr txBox="1"/>
            <p:nvPr/>
          </p:nvSpPr>
          <p:spPr>
            <a:xfrm>
              <a:off x="4667250" y="2000250"/>
              <a:ext cx="2857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175">
                  <a:solidFill>
                    <a:srgbClr val="00A896"/>
                  </a:solidFill>
                  <a:latin typeface="Georgia"/>
                  <a:ea typeface="Georgia"/>
                  <a:cs typeface="Georgia"/>
                  <a:sym typeface="Georgia"/>
                </a:rPr>
                <a:t>43,020</a:t>
              </a:r>
              <a:endParaRPr b="1" sz="4175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  <a:t>older adults died from</a:t>
              </a:r>
              <a:br>
                <a:rPr b="1" lang="en-US" sz="24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lang="en-US" sz="2400">
                  <a:solidFill>
                    <a:srgbClr val="8FAAB5"/>
                  </a:solidFill>
                  <a:latin typeface="Calibri"/>
                  <a:ea typeface="Calibri"/>
                  <a:cs typeface="Calibri"/>
                  <a:sym typeface="Calibri"/>
                </a:rPr>
                <a:t>falls in 2024 (US)</a:t>
              </a:r>
              <a:endParaRPr b="1" sz="24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28090"/>
                  </a:solidFill>
                  <a:latin typeface="Calibri"/>
                  <a:ea typeface="Calibri"/>
                  <a:cs typeface="Calibri"/>
                  <a:sym typeface="Calibri"/>
                </a:rPr>
                <a:t>https://injuryfacts.nsc.org/home-and-community/safety-topics/older-adult-falls/</a:t>
              </a:r>
              <a:endParaRPr sz="20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6"/>
          <p:cNvGrpSpPr/>
          <p:nvPr/>
        </p:nvGrpSpPr>
        <p:grpSpPr>
          <a:xfrm>
            <a:off x="8162925" y="1714500"/>
            <a:ext cx="3476700" cy="3810000"/>
            <a:chOff x="8162925" y="1714500"/>
            <a:chExt cx="3476700" cy="3810000"/>
          </a:xfrm>
        </p:grpSpPr>
        <p:sp>
          <p:nvSpPr>
            <p:cNvPr id="53" name="Google Shape;53;p6"/>
            <p:cNvSpPr/>
            <p:nvPr/>
          </p:nvSpPr>
          <p:spPr>
            <a:xfrm>
              <a:off x="8162925" y="1714500"/>
              <a:ext cx="3476700" cy="3810000"/>
            </a:xfrm>
            <a:prstGeom prst="roundRect">
              <a:avLst>
                <a:gd fmla="val 1095" name="adj"/>
              </a:avLst>
            </a:prstGeom>
            <a:solidFill>
              <a:srgbClr val="FFFFFF"/>
            </a:solidFill>
            <a:ln cap="flat" cmpd="sng" w="14300">
              <a:solidFill>
                <a:srgbClr val="D8E6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6"/>
            <p:cNvSpPr/>
            <p:nvPr/>
          </p:nvSpPr>
          <p:spPr>
            <a:xfrm>
              <a:off x="8162925" y="1714500"/>
              <a:ext cx="76200" cy="3810000"/>
            </a:xfrm>
            <a:prstGeom prst="rect">
              <a:avLst/>
            </a:prstGeom>
            <a:solidFill>
              <a:srgbClr val="0280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6"/>
            <p:cNvSpPr txBox="1"/>
            <p:nvPr/>
          </p:nvSpPr>
          <p:spPr>
            <a:xfrm>
              <a:off x="8477250" y="2000250"/>
              <a:ext cx="2857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400">
                  <a:solidFill>
                    <a:srgbClr val="028090"/>
                  </a:solidFill>
                  <a:latin typeface="Georgia"/>
                  <a:ea typeface="Georgia"/>
                  <a:cs typeface="Georgia"/>
                  <a:sym typeface="Georgia"/>
                </a:rPr>
                <a:t>+21%</a:t>
              </a:r>
              <a:endParaRPr b="1" sz="540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  <a:t>fall death rate increased</a:t>
              </a:r>
              <a:br>
                <a:rPr b="1" lang="en-US" sz="22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lang="en-US" sz="2200">
                  <a:solidFill>
                    <a:srgbClr val="8FAAB5"/>
                  </a:solidFill>
                  <a:latin typeface="Calibri"/>
                  <a:ea typeface="Calibri"/>
                  <a:cs typeface="Calibri"/>
                  <a:sym typeface="Calibri"/>
                </a:rPr>
                <a:t>2018 → 2024</a:t>
              </a:r>
              <a:endParaRPr b="1" sz="22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028090"/>
                  </a:solidFill>
                  <a:latin typeface="Calibri"/>
                  <a:ea typeface="Calibri"/>
                  <a:cs typeface="Calibri"/>
                  <a:sym typeface="Calibri"/>
                </a:rPr>
                <a:t>https://www.nature.com/articles/s41514-025-00275-4</a:t>
              </a:r>
              <a:endParaRPr sz="2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6"/>
          <p:cNvGrpSpPr/>
          <p:nvPr/>
        </p:nvGrpSpPr>
        <p:grpSpPr>
          <a:xfrm>
            <a:off x="0" y="5905500"/>
            <a:ext cx="12192000" cy="952500"/>
            <a:chOff x="0" y="5905500"/>
            <a:chExt cx="12192000" cy="952500"/>
          </a:xfrm>
        </p:grpSpPr>
        <p:sp>
          <p:nvSpPr>
            <p:cNvPr id="57" name="Google Shape;57;p6"/>
            <p:cNvSpPr/>
            <p:nvPr/>
          </p:nvSpPr>
          <p:spPr>
            <a:xfrm>
              <a:off x="0" y="5905500"/>
              <a:ext cx="12192000" cy="952500"/>
            </a:xfrm>
            <a:prstGeom prst="rect">
              <a:avLst/>
            </a:prstGeom>
            <a:solidFill>
              <a:srgbClr val="0280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6"/>
            <p:cNvSpPr txBox="1"/>
            <p:nvPr/>
          </p:nvSpPr>
          <p:spPr>
            <a:xfrm>
              <a:off x="542925" y="5905500"/>
              <a:ext cx="11106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Falls are the leading cause of injury death in 65+ · and the rate is rising every year</a:t>
              </a:r>
              <a:endPara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/>
        </p:nvSpPr>
        <p:spPr>
          <a:xfrm>
            <a:off x="548640" y="27432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WHY THIS SYSTEM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Stakeholders &amp; Their Needs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548650" y="1417325"/>
            <a:ext cx="3566100" cy="4900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6E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548650" y="1417325"/>
            <a:ext cx="82200" cy="4900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1114560" y="1620470"/>
            <a:ext cx="2286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F3D4C"/>
                </a:solidFill>
                <a:latin typeface="Calibri"/>
                <a:ea typeface="Calibri"/>
                <a:cs typeface="Calibri"/>
                <a:sym typeface="Calibri"/>
              </a:rPr>
              <a:t>Care Home Nurses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909842" y="4321065"/>
            <a:ext cx="3017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A86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• Quick risk alerts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E7A86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• Know WHO needs attention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4206250" y="1417325"/>
            <a:ext cx="3566100" cy="4900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6E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4206324" y="1417325"/>
            <a:ext cx="82200" cy="49005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4727398" y="1620437"/>
            <a:ext cx="269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F3D4C"/>
                </a:solidFill>
                <a:latin typeface="Calibri"/>
                <a:ea typeface="Calibri"/>
                <a:cs typeface="Calibri"/>
                <a:sym typeface="Calibri"/>
              </a:rPr>
              <a:t>The Family of the Elderly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4661293" y="4282715"/>
            <a:ext cx="3017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A86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6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Reduce the incidence of falls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E7A86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6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Get early warnings without    taking the elderly to the hospital.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7863850" y="1417325"/>
            <a:ext cx="3566100" cy="4900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6E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7863925" y="1417325"/>
            <a:ext cx="82200" cy="4900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9158343" y="1725375"/>
            <a:ext cx="106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F3D4C"/>
                </a:solidFill>
                <a:latin typeface="Calibri"/>
                <a:ea typeface="Calibri"/>
                <a:cs typeface="Calibri"/>
                <a:sym typeface="Calibri"/>
              </a:rPr>
              <a:t>Clinicians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8225230" y="4237840"/>
            <a:ext cx="3017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E7A86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• Actionable intervention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5E7A86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• Patient-specific advice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7"/>
          <p:cNvPicPr preferRelativeResize="0"/>
          <p:nvPr/>
        </p:nvPicPr>
        <p:blipFill rotWithShape="1">
          <a:blip r:embed="rId3">
            <a:alphaModFix/>
          </a:blip>
          <a:srcRect b="6861" l="33711" r="5701" t="9666"/>
          <a:stretch/>
        </p:blipFill>
        <p:spPr>
          <a:xfrm>
            <a:off x="1188700" y="2318101"/>
            <a:ext cx="2286000" cy="2369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4">
            <a:alphaModFix/>
          </a:blip>
          <a:srcRect b="0" l="31447" r="13121" t="0"/>
          <a:stretch/>
        </p:blipFill>
        <p:spPr>
          <a:xfrm>
            <a:off x="4933237" y="2318100"/>
            <a:ext cx="2285999" cy="23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5">
            <a:alphaModFix/>
          </a:blip>
          <a:srcRect b="0" l="30485" r="15644" t="0"/>
          <a:stretch/>
        </p:blipFill>
        <p:spPr>
          <a:xfrm>
            <a:off x="8677550" y="2380813"/>
            <a:ext cx="2149152" cy="224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/>
          <p:nvPr/>
        </p:nvSpPr>
        <p:spPr>
          <a:xfrm>
            <a:off x="473390" y="274320"/>
            <a:ext cx="1106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SYSTEM PREVIEW</a:t>
            </a:r>
            <a:endParaRPr b="1" sz="1300">
              <a:solidFill>
                <a:srgbClr val="0280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Elderly Fall Risk Analysis Platform</a:t>
            </a:r>
            <a:endParaRPr b="1" sz="3400">
              <a:solidFill>
                <a:srgbClr val="0F3D4C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8" name="Google Shape;8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400" y="1340670"/>
            <a:ext cx="7481439" cy="5135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6514" y="2813045"/>
            <a:ext cx="3932359" cy="188488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/>
          <p:nvPr/>
        </p:nvSpPr>
        <p:spPr>
          <a:xfrm>
            <a:off x="6517700" y="1340675"/>
            <a:ext cx="1437300" cy="5505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418800" y="2440875"/>
            <a:ext cx="7636800" cy="14199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386100" y="4253525"/>
            <a:ext cx="7669500" cy="2126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8179875" y="2735350"/>
            <a:ext cx="3959100" cy="20091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9"/>
          <p:cNvGrpSpPr/>
          <p:nvPr/>
        </p:nvGrpSpPr>
        <p:grpSpPr>
          <a:xfrm>
            <a:off x="548640" y="274320"/>
            <a:ext cx="11064300" cy="1142940"/>
            <a:chOff x="548640" y="274320"/>
            <a:chExt cx="11064300" cy="1142940"/>
          </a:xfrm>
        </p:grpSpPr>
        <p:sp>
          <p:nvSpPr>
            <p:cNvPr id="99" name="Google Shape;99;p9"/>
            <p:cNvSpPr txBox="1"/>
            <p:nvPr/>
          </p:nvSpPr>
          <p:spPr>
            <a:xfrm>
              <a:off x="548640" y="274320"/>
              <a:ext cx="110643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28090"/>
                  </a:solidFill>
                  <a:latin typeface="Calibri"/>
                  <a:ea typeface="Calibri"/>
                  <a:cs typeface="Calibri"/>
                  <a:sym typeface="Calibri"/>
                </a:rPr>
                <a:t>WORKING </a:t>
              </a:r>
              <a:r>
                <a:rPr b="1" lang="en-US" sz="1300">
                  <a:solidFill>
                    <a:srgbClr val="028090"/>
                  </a:solidFill>
                  <a:latin typeface="Calibri"/>
                  <a:ea typeface="Calibri"/>
                  <a:cs typeface="Calibri"/>
                  <a:sym typeface="Calibri"/>
                </a:rPr>
                <a:t>PLAN</a:t>
              </a:r>
              <a:endParaRPr b="1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9"/>
            <p:cNvSpPr txBox="1"/>
            <p:nvPr/>
          </p:nvSpPr>
          <p:spPr>
            <a:xfrm>
              <a:off x="548640" y="594360"/>
              <a:ext cx="110643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0F3D4C"/>
                  </a:solidFill>
                  <a:latin typeface="Georgia"/>
                  <a:ea typeface="Georgia"/>
                  <a:cs typeface="Georgia"/>
                  <a:sym typeface="Georgia"/>
                </a:rPr>
                <a:t>Work Flow Chart</a:t>
              </a:r>
              <a:endParaRPr b="1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01" name="Google Shape;101;p9"/>
          <p:cNvGrpSpPr/>
          <p:nvPr/>
        </p:nvGrpSpPr>
        <p:grpSpPr>
          <a:xfrm>
            <a:off x="619125" y="1905000"/>
            <a:ext cx="2000100" cy="3429000"/>
            <a:chOff x="619125" y="1905000"/>
            <a:chExt cx="2000100" cy="3429000"/>
          </a:xfrm>
        </p:grpSpPr>
        <p:sp>
          <p:nvSpPr>
            <p:cNvPr id="102" name="Google Shape;102;p9"/>
            <p:cNvSpPr/>
            <p:nvPr/>
          </p:nvSpPr>
          <p:spPr>
            <a:xfrm>
              <a:off x="619125" y="1905000"/>
              <a:ext cx="2000100" cy="3429000"/>
            </a:xfrm>
            <a:prstGeom prst="roundRect">
              <a:avLst>
                <a:gd fmla="val 1904" name="adj"/>
              </a:avLst>
            </a:prstGeom>
            <a:solidFill>
              <a:srgbClr val="FFFFFF"/>
            </a:solidFill>
            <a:ln cap="flat" cmpd="sng" w="14300">
              <a:solidFill>
                <a:srgbClr val="D8E6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619125" y="1905000"/>
              <a:ext cx="57300" cy="3429000"/>
            </a:xfrm>
            <a:prstGeom prst="rect">
              <a:avLst/>
            </a:prstGeom>
            <a:solidFill>
              <a:srgbClr val="0280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9"/>
            <p:cNvSpPr txBox="1"/>
            <p:nvPr/>
          </p:nvSpPr>
          <p:spPr>
            <a:xfrm>
              <a:off x="809625" y="2095500"/>
              <a:ext cx="16191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028090"/>
                  </a:solidFill>
                  <a:latin typeface="Georgia"/>
                  <a:ea typeface="Georgia"/>
                  <a:cs typeface="Georgia"/>
                  <a:sym typeface="Georgia"/>
                </a:rPr>
                <a:t>01</a:t>
              </a:r>
              <a:endParaRPr b="1" sz="320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F3D4C"/>
                  </a:solidFill>
                  <a:latin typeface="Calibri"/>
                  <a:ea typeface="Calibri"/>
                  <a:cs typeface="Calibri"/>
                  <a:sym typeface="Calibri"/>
                </a:rPr>
                <a:t>1. Collect Data</a:t>
              </a:r>
              <a:endParaRPr b="1" sz="2400">
                <a:solidFill>
                  <a:srgbClr val="0F3D4C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  <a:t>Create CSV File</a:t>
              </a:r>
              <a:endParaRPr sz="20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9"/>
          <p:cNvSpPr txBox="1"/>
          <p:nvPr/>
        </p:nvSpPr>
        <p:spPr>
          <a:xfrm>
            <a:off x="2619375" y="3429000"/>
            <a:ext cx="2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028090"/>
                </a:solidFill>
              </a:rPr>
              <a:t>→</a:t>
            </a:r>
            <a:endParaRPr sz="1850">
              <a:solidFill>
                <a:srgbClr val="028090"/>
              </a:solidFill>
            </a:endParaRPr>
          </a:p>
        </p:txBody>
      </p:sp>
      <p:grpSp>
        <p:nvGrpSpPr>
          <p:cNvPr id="106" name="Google Shape;106;p9"/>
          <p:cNvGrpSpPr/>
          <p:nvPr/>
        </p:nvGrpSpPr>
        <p:grpSpPr>
          <a:xfrm>
            <a:off x="2857500" y="1905000"/>
            <a:ext cx="2000100" cy="3429000"/>
            <a:chOff x="2857500" y="1905000"/>
            <a:chExt cx="2000100" cy="3429000"/>
          </a:xfrm>
        </p:grpSpPr>
        <p:sp>
          <p:nvSpPr>
            <p:cNvPr id="107" name="Google Shape;107;p9"/>
            <p:cNvSpPr/>
            <p:nvPr/>
          </p:nvSpPr>
          <p:spPr>
            <a:xfrm>
              <a:off x="2857500" y="1905000"/>
              <a:ext cx="2000100" cy="3429000"/>
            </a:xfrm>
            <a:prstGeom prst="roundRect">
              <a:avLst>
                <a:gd fmla="val 1904" name="adj"/>
              </a:avLst>
            </a:prstGeom>
            <a:solidFill>
              <a:srgbClr val="FFFFFF"/>
            </a:solidFill>
            <a:ln cap="flat" cmpd="sng" w="14300">
              <a:solidFill>
                <a:srgbClr val="D8E6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2857500" y="1905000"/>
              <a:ext cx="57300" cy="3429000"/>
            </a:xfrm>
            <a:prstGeom prst="rect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9"/>
            <p:cNvSpPr txBox="1"/>
            <p:nvPr/>
          </p:nvSpPr>
          <p:spPr>
            <a:xfrm>
              <a:off x="3048000" y="2095500"/>
              <a:ext cx="16191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2775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00A896"/>
                  </a:solidFill>
                  <a:latin typeface="Georgia"/>
                  <a:ea typeface="Georgia"/>
                  <a:cs typeface="Georgia"/>
                  <a:sym typeface="Georgia"/>
                </a:rPr>
                <a:t>02</a:t>
              </a:r>
              <a:endParaRPr b="1" sz="3200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F3D4C"/>
                  </a:solidFill>
                  <a:latin typeface="Calibri"/>
                  <a:ea typeface="Calibri"/>
                  <a:cs typeface="Calibri"/>
                  <a:sym typeface="Calibri"/>
                </a:rPr>
                <a:t>2. Data Cleaning</a:t>
              </a:r>
              <a:endParaRPr b="1" sz="2200">
                <a:solidFill>
                  <a:srgbClr val="0F3D4C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  <a:t>Handle Missing, Duplicate, and Invalid Data</a:t>
              </a:r>
              <a:endParaRPr sz="20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9"/>
          <p:cNvSpPr txBox="1"/>
          <p:nvPr/>
        </p:nvSpPr>
        <p:spPr>
          <a:xfrm>
            <a:off x="4857750" y="3429000"/>
            <a:ext cx="2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00A896"/>
                </a:solidFill>
              </a:rPr>
              <a:t>→</a:t>
            </a:r>
            <a:endParaRPr sz="1850">
              <a:solidFill>
                <a:srgbClr val="00A896"/>
              </a:solidFill>
            </a:endParaRPr>
          </a:p>
        </p:txBody>
      </p:sp>
      <p:grpSp>
        <p:nvGrpSpPr>
          <p:cNvPr id="111" name="Google Shape;111;p9"/>
          <p:cNvGrpSpPr/>
          <p:nvPr/>
        </p:nvGrpSpPr>
        <p:grpSpPr>
          <a:xfrm>
            <a:off x="5095875" y="1905000"/>
            <a:ext cx="2000100" cy="3429000"/>
            <a:chOff x="5095875" y="1905000"/>
            <a:chExt cx="2000100" cy="3429000"/>
          </a:xfrm>
        </p:grpSpPr>
        <p:sp>
          <p:nvSpPr>
            <p:cNvPr id="112" name="Google Shape;112;p9"/>
            <p:cNvSpPr/>
            <p:nvPr/>
          </p:nvSpPr>
          <p:spPr>
            <a:xfrm>
              <a:off x="5095875" y="1905000"/>
              <a:ext cx="2000100" cy="3429000"/>
            </a:xfrm>
            <a:prstGeom prst="roundRect">
              <a:avLst>
                <a:gd fmla="val 1904" name="adj"/>
              </a:avLst>
            </a:prstGeom>
            <a:solidFill>
              <a:srgbClr val="FFFFFF"/>
            </a:solidFill>
            <a:ln cap="flat" cmpd="sng" w="14300">
              <a:solidFill>
                <a:srgbClr val="D8E6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9"/>
            <p:cNvSpPr/>
            <p:nvPr/>
          </p:nvSpPr>
          <p:spPr>
            <a:xfrm>
              <a:off x="5095875" y="1905000"/>
              <a:ext cx="57300" cy="3429000"/>
            </a:xfrm>
            <a:prstGeom prst="rect">
              <a:avLst/>
            </a:prstGeom>
            <a:solidFill>
              <a:srgbClr val="0280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9"/>
            <p:cNvSpPr txBox="1"/>
            <p:nvPr/>
          </p:nvSpPr>
          <p:spPr>
            <a:xfrm>
              <a:off x="5286375" y="2095500"/>
              <a:ext cx="16191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028090"/>
                  </a:solidFill>
                  <a:latin typeface="Georgia"/>
                  <a:ea typeface="Georgia"/>
                  <a:cs typeface="Georgia"/>
                  <a:sym typeface="Georgia"/>
                </a:rPr>
                <a:t>03</a:t>
              </a:r>
              <a:endParaRPr b="1" sz="320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F3D4C"/>
                  </a:solidFill>
                  <a:latin typeface="Calibri"/>
                  <a:ea typeface="Calibri"/>
                  <a:cs typeface="Calibri"/>
                  <a:sym typeface="Calibri"/>
                </a:rPr>
                <a:t>3. Train Model</a:t>
              </a:r>
              <a:endParaRPr b="1" sz="2000">
                <a:solidFill>
                  <a:srgbClr val="0F3D4C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  <a:t>Train, Test, and Evaluate the Model</a:t>
              </a:r>
              <a:endParaRPr sz="20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9"/>
          <p:cNvSpPr txBox="1"/>
          <p:nvPr/>
        </p:nvSpPr>
        <p:spPr>
          <a:xfrm>
            <a:off x="7096125" y="3429000"/>
            <a:ext cx="2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028090"/>
                </a:solidFill>
              </a:rPr>
              <a:t>→</a:t>
            </a:r>
            <a:endParaRPr sz="1850">
              <a:solidFill>
                <a:srgbClr val="028090"/>
              </a:solidFill>
            </a:endParaRPr>
          </a:p>
        </p:txBody>
      </p:sp>
      <p:grpSp>
        <p:nvGrpSpPr>
          <p:cNvPr id="116" name="Google Shape;116;p9"/>
          <p:cNvGrpSpPr/>
          <p:nvPr/>
        </p:nvGrpSpPr>
        <p:grpSpPr>
          <a:xfrm>
            <a:off x="7334250" y="1905000"/>
            <a:ext cx="2000100" cy="3429000"/>
            <a:chOff x="7334250" y="1905000"/>
            <a:chExt cx="2000100" cy="3429000"/>
          </a:xfrm>
        </p:grpSpPr>
        <p:sp>
          <p:nvSpPr>
            <p:cNvPr id="117" name="Google Shape;117;p9"/>
            <p:cNvSpPr/>
            <p:nvPr/>
          </p:nvSpPr>
          <p:spPr>
            <a:xfrm>
              <a:off x="7334250" y="1905000"/>
              <a:ext cx="2000100" cy="3429000"/>
            </a:xfrm>
            <a:prstGeom prst="roundRect">
              <a:avLst>
                <a:gd fmla="val 1904" name="adj"/>
              </a:avLst>
            </a:prstGeom>
            <a:solidFill>
              <a:srgbClr val="FFFFFF"/>
            </a:solidFill>
            <a:ln cap="flat" cmpd="sng" w="14300">
              <a:solidFill>
                <a:srgbClr val="D8E6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9"/>
            <p:cNvSpPr/>
            <p:nvPr/>
          </p:nvSpPr>
          <p:spPr>
            <a:xfrm>
              <a:off x="7334250" y="1905000"/>
              <a:ext cx="57300" cy="3429000"/>
            </a:xfrm>
            <a:prstGeom prst="rect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9"/>
            <p:cNvSpPr txBox="1"/>
            <p:nvPr/>
          </p:nvSpPr>
          <p:spPr>
            <a:xfrm>
              <a:off x="7524750" y="2095500"/>
              <a:ext cx="16191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00A896"/>
                  </a:solidFill>
                  <a:latin typeface="Georgia"/>
                  <a:ea typeface="Georgia"/>
                  <a:cs typeface="Georgia"/>
                  <a:sym typeface="Georgia"/>
                </a:rPr>
                <a:t>04</a:t>
              </a:r>
              <a:endParaRPr b="1" sz="3200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F3D4C"/>
                  </a:solidFill>
                  <a:latin typeface="Calibri"/>
                  <a:ea typeface="Calibri"/>
                  <a:cs typeface="Calibri"/>
                  <a:sym typeface="Calibri"/>
                </a:rPr>
                <a:t>4. Build Backend</a:t>
              </a:r>
              <a:endParaRPr b="1" sz="2200">
                <a:solidFill>
                  <a:srgbClr val="0F3D4C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  <a:t>Build FastAPI Backend, Load Model and Create Prediction API</a:t>
              </a:r>
              <a:endParaRPr sz="20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9"/>
          <p:cNvSpPr txBox="1"/>
          <p:nvPr/>
        </p:nvSpPr>
        <p:spPr>
          <a:xfrm>
            <a:off x="9334500" y="3429000"/>
            <a:ext cx="2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00A896"/>
                </a:solidFill>
              </a:rPr>
              <a:t>→</a:t>
            </a:r>
            <a:endParaRPr sz="1850">
              <a:solidFill>
                <a:srgbClr val="00A896"/>
              </a:solidFill>
            </a:endParaRPr>
          </a:p>
        </p:txBody>
      </p:sp>
      <p:grpSp>
        <p:nvGrpSpPr>
          <p:cNvPr id="121" name="Google Shape;121;p9"/>
          <p:cNvGrpSpPr/>
          <p:nvPr/>
        </p:nvGrpSpPr>
        <p:grpSpPr>
          <a:xfrm>
            <a:off x="9572625" y="1905000"/>
            <a:ext cx="2000100" cy="3429000"/>
            <a:chOff x="9572625" y="1905000"/>
            <a:chExt cx="2000100" cy="3429000"/>
          </a:xfrm>
        </p:grpSpPr>
        <p:sp>
          <p:nvSpPr>
            <p:cNvPr id="122" name="Google Shape;122;p9"/>
            <p:cNvSpPr/>
            <p:nvPr/>
          </p:nvSpPr>
          <p:spPr>
            <a:xfrm>
              <a:off x="9572625" y="1905000"/>
              <a:ext cx="2000100" cy="3429000"/>
            </a:xfrm>
            <a:prstGeom prst="roundRect">
              <a:avLst>
                <a:gd fmla="val 1904" name="adj"/>
              </a:avLst>
            </a:prstGeom>
            <a:solidFill>
              <a:srgbClr val="FFFFFF"/>
            </a:solidFill>
            <a:ln cap="flat" cmpd="sng" w="14300">
              <a:solidFill>
                <a:srgbClr val="D8E6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9"/>
            <p:cNvSpPr/>
            <p:nvPr/>
          </p:nvSpPr>
          <p:spPr>
            <a:xfrm>
              <a:off x="9572625" y="1905000"/>
              <a:ext cx="57300" cy="3429000"/>
            </a:xfrm>
            <a:prstGeom prst="rect">
              <a:avLst/>
            </a:prstGeom>
            <a:solidFill>
              <a:srgbClr val="0280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9"/>
            <p:cNvSpPr txBox="1"/>
            <p:nvPr/>
          </p:nvSpPr>
          <p:spPr>
            <a:xfrm>
              <a:off x="9763125" y="2095500"/>
              <a:ext cx="16191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028090"/>
                  </a:solidFill>
                  <a:latin typeface="Georgia"/>
                  <a:ea typeface="Georgia"/>
                  <a:cs typeface="Georgia"/>
                  <a:sym typeface="Georgia"/>
                </a:rPr>
                <a:t>05</a:t>
              </a:r>
              <a:endParaRPr b="1" sz="3200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F3D4C"/>
                  </a:solidFill>
                  <a:latin typeface="Calibri"/>
                  <a:ea typeface="Calibri"/>
                  <a:cs typeface="Calibri"/>
                  <a:sym typeface="Calibri"/>
                </a:rPr>
                <a:t>5. Develop App</a:t>
              </a:r>
              <a:endParaRPr b="1" sz="2200">
                <a:solidFill>
                  <a:srgbClr val="0F3D4C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5E7A86"/>
                  </a:solidFill>
                  <a:latin typeface="Calibri"/>
                  <a:ea typeface="Calibri"/>
                  <a:cs typeface="Calibri"/>
                  <a:sym typeface="Calibri"/>
                </a:rPr>
                <a:t>Develop Web Application, Create UI and Connect to API</a:t>
              </a:r>
              <a:endParaRPr sz="20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0" title="exec-9878c668-8412-430b-ba84-e3c098685d8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3250" y="1054375"/>
            <a:ext cx="8250899" cy="580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0"/>
          <p:cNvSpPr/>
          <p:nvPr/>
        </p:nvSpPr>
        <p:spPr>
          <a:xfrm>
            <a:off x="548640" y="27432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FEATURE ENGINEERING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548640" y="59436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14 x Clinical Features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935" y="0"/>
            <a:ext cx="1218546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1"/>
          <p:cNvSpPr/>
          <p:nvPr/>
        </p:nvSpPr>
        <p:spPr>
          <a:xfrm>
            <a:off x="752865" y="58361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TUG seconds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 txBox="1"/>
          <p:nvPr/>
        </p:nvSpPr>
        <p:spPr>
          <a:xfrm>
            <a:off x="2691000" y="6335450"/>
            <a:ext cx="681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Schoene et al. (2013), J Am Geriatr Soc, 61(2), 202–208. </a:t>
            </a:r>
            <a:r>
              <a:rPr lang="en-US" sz="1100" u="sng">
                <a:solidFill>
                  <a:schemeClr val="hlink"/>
                </a:solidFill>
                <a:hlinkClick r:id="rId4"/>
              </a:rPr>
              <a:t>https://pubmed.ncbi.nlm.nih.gov/23350947/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000"/>
          </a:p>
        </p:txBody>
      </p:sp>
      <p:sp>
        <p:nvSpPr>
          <p:cNvPr id="141" name="Google Shape;141;p11"/>
          <p:cNvSpPr txBox="1"/>
          <p:nvPr/>
        </p:nvSpPr>
        <p:spPr>
          <a:xfrm>
            <a:off x="687925" y="2687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FEATURE ENGINEERING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/>
          <p:nvPr/>
        </p:nvSpPr>
        <p:spPr>
          <a:xfrm>
            <a:off x="548640" y="274320"/>
            <a:ext cx="1106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FEATURE ENGINEERING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548640" y="59436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TUG </a:t>
            </a: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distributed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062" y="51274"/>
            <a:ext cx="11367477" cy="639762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2"/>
          <p:cNvSpPr txBox="1"/>
          <p:nvPr/>
        </p:nvSpPr>
        <p:spPr>
          <a:xfrm>
            <a:off x="3140550" y="6373450"/>
            <a:ext cx="591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Bohannon RW (2006), </a:t>
            </a:r>
            <a:r>
              <a:rPr i="1" lang="en-US" sz="1000">
                <a:solidFill>
                  <a:schemeClr val="dk1"/>
                </a:solidFill>
              </a:rPr>
              <a:t>J Geriatr Phys Ther</a:t>
            </a:r>
            <a:r>
              <a:rPr lang="en-US" sz="1000">
                <a:solidFill>
                  <a:schemeClr val="dk1"/>
                </a:solidFill>
              </a:rPr>
              <a:t>, 29(2), 64–68. </a:t>
            </a:r>
            <a:r>
              <a:rPr lang="en-US" sz="1000" u="sng">
                <a:solidFill>
                  <a:schemeClr val="hlink"/>
                </a:solidFill>
                <a:hlinkClick r:id="rId4"/>
              </a:rPr>
              <a:t>https://pubmed.ncbi.nlm.nih.gov/16914068/</a:t>
            </a:r>
            <a:r>
              <a:rPr lang="en-US" sz="1000">
                <a:solidFill>
                  <a:schemeClr val="dk1"/>
                </a:solidFill>
              </a:rPr>
              <a:t> 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/>
          <p:nvPr/>
        </p:nvSpPr>
        <p:spPr>
          <a:xfrm>
            <a:off x="548640" y="27432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DATA ANALYSIS</a:t>
            </a:r>
            <a:endParaRPr b="1" sz="1300">
              <a:solidFill>
                <a:srgbClr val="0280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Data Relationship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858625" y="2019620"/>
            <a:ext cx="94182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libri"/>
              <a:buNone/>
            </a:pPr>
            <a:r>
              <a:rPr i="1" lang="en-US" sz="20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( To be completed by teammate 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2725" y="1417325"/>
            <a:ext cx="8268573" cy="52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/>
          <p:nvPr/>
        </p:nvSpPr>
        <p:spPr>
          <a:xfrm>
            <a:off x="548640" y="274320"/>
            <a:ext cx="1106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 b="1" sz="1300">
              <a:solidFill>
                <a:srgbClr val="0280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548640" y="59436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Model Comparison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858625" y="2019620"/>
            <a:ext cx="94182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libri"/>
              <a:buNone/>
            </a:pPr>
            <a:r>
              <a:rPr i="1" lang="en-US" sz="20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( To be completed by teammate 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175" y="1270050"/>
            <a:ext cx="10036451" cy="529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>
            <a:off x="548640" y="274320"/>
            <a:ext cx="1106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ASSISTANT ANALYSIS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548640" y="59436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Streamlit Data Table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6" title="Screenshot 2026-08-28 at 3.15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38" y="1494410"/>
            <a:ext cx="10888617" cy="5135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/>
          <p:nvPr/>
        </p:nvSpPr>
        <p:spPr>
          <a:xfrm>
            <a:off x="548640" y="27432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FAIR COMPARISON — SAME TEST, SAME PROTOCOL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More Features ≠ Better Model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17" title="Screenshot 2026-08-28 at 3.25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4220"/>
            <a:ext cx="11887201" cy="269899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/>
          <p:nvPr/>
        </p:nvSpPr>
        <p:spPr>
          <a:xfrm>
            <a:off x="152401" y="4550125"/>
            <a:ext cx="11887200" cy="19338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490038" y="4655125"/>
            <a:ext cx="11211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WORSE!!</a:t>
            </a:r>
            <a:endParaRPr b="1" sz="40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1" sz="30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-0.5% acc   -0.7% recall    1 HIGH MISSED 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/>
          <p:nvPr/>
        </p:nvSpPr>
        <p:spPr>
          <a:xfrm>
            <a:off x="4297693" y="5303545"/>
            <a:ext cx="3566100" cy="1280100"/>
          </a:xfrm>
          <a:prstGeom prst="rect">
            <a:avLst/>
          </a:prstGeom>
          <a:solidFill>
            <a:srgbClr val="0F3D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548640" y="274320"/>
            <a:ext cx="1106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FAIR COMPARISON — SAME TEST, SAME PROTOCOL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548640" y="59436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Run Fair Test to Validate The Assumption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563840" y="1571510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7A86"/>
              </a:buClr>
              <a:buSzPts val="1600"/>
              <a:buFont typeface="Calibri"/>
              <a:buNone/>
            </a:pPr>
            <a:r>
              <a:rPr i="1" lang="en-US" sz="20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Same 5-fold · same 70/20/10 · same 200 test patients · same threshold 0.5 · same LR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548678" y="5303545"/>
            <a:ext cx="3566100" cy="12801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4312950" y="5451201"/>
            <a:ext cx="35661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ALEX NEVER </a:t>
            </a:r>
            <a:endParaRPr b="1" sz="20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MISSED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548680" y="5394985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KERO MISSED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548680" y="5760745"/>
            <a:ext cx="3566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 HIGH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8046720" y="5303520"/>
            <a:ext cx="3566100" cy="1280100"/>
          </a:xfrm>
          <a:prstGeom prst="rect">
            <a:avLst/>
          </a:prstGeom>
          <a:solidFill>
            <a:srgbClr val="B8862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8046720" y="5502435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🏆 ALEX MODEL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8046720" y="5959635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WINS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8" title="Screenshot 2026-08-28 at 3.29.2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98185"/>
            <a:ext cx="11887201" cy="262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3D4C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/>
          <p:nvPr/>
        </p:nvSpPr>
        <p:spPr>
          <a:xfrm>
            <a:off x="822960" y="64008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PHASE 2 — GOAL ACHIEVED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822960" y="1051560"/>
            <a:ext cx="10058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🏆 We Kept the Promise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1280160" y="2194560"/>
            <a:ext cx="45720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600"/>
              <a:buFont typeface="Georgia"/>
              <a:buNone/>
            </a:pPr>
            <a:r>
              <a:rPr b="1" lang="en-US" sz="9600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91.5%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1280160" y="3749040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E3D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BDE3D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6309360" y="2194560"/>
            <a:ext cx="45720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600"/>
              <a:buFont typeface="Georgia"/>
              <a:buNone/>
            </a:pPr>
            <a:r>
              <a:rPr b="1" lang="en-US" sz="9600">
                <a:solidFill>
                  <a:srgbClr val="00A896"/>
                </a:solidFill>
                <a:latin typeface="Georgia"/>
                <a:ea typeface="Georgia"/>
                <a:cs typeface="Georgia"/>
                <a:sym typeface="Georgia"/>
              </a:rPr>
              <a:t>100%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6309360" y="3749040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E3D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BDE3DB"/>
                </a:solidFill>
                <a:latin typeface="Calibri"/>
                <a:ea typeface="Calibri"/>
                <a:cs typeface="Calibri"/>
                <a:sym typeface="Calibri"/>
              </a:rPr>
              <a:t>HIGH RECALL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822960" y="4663440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  HIGH-risk patients missed  ·  53/53 caught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E3D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BDE3DB"/>
                </a:solidFill>
                <a:latin typeface="Calibri"/>
                <a:ea typeface="Calibri"/>
                <a:cs typeface="Calibri"/>
                <a:sym typeface="Calibri"/>
              </a:rPr>
              <a:t>How: Alex 14 features + Kero validation (70/20/10, 5-fold, threshold, overfit check)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/>
          <p:nvPr/>
        </p:nvSpPr>
        <p:spPr>
          <a:xfrm>
            <a:off x="548640" y="27432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FastAPI Integration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234848" y="2654199"/>
            <a:ext cx="1244700" cy="5742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191475" lIns="191475" spcFirstLastPara="1" rIns="191475" wrap="square" tIns="191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99">
              <a:solidFill>
                <a:srgbClr val="434343"/>
              </a:solidFill>
            </a:endParaRPr>
          </a:p>
        </p:txBody>
      </p:sp>
      <p:grpSp>
        <p:nvGrpSpPr>
          <p:cNvPr id="235" name="Google Shape;235;p21"/>
          <p:cNvGrpSpPr/>
          <p:nvPr/>
        </p:nvGrpSpPr>
        <p:grpSpPr>
          <a:xfrm>
            <a:off x="-102355" y="2382565"/>
            <a:ext cx="3675672" cy="3637560"/>
            <a:chOff x="571536" y="2118324"/>
            <a:chExt cx="1755000" cy="1736803"/>
          </a:xfrm>
        </p:grpSpPr>
        <p:sp>
          <p:nvSpPr>
            <p:cNvPr id="236" name="Google Shape;236;p21"/>
            <p:cNvSpPr txBox="1"/>
            <p:nvPr/>
          </p:nvSpPr>
          <p:spPr>
            <a:xfrm>
              <a:off x="1230636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1475" lIns="191475" spcFirstLastPara="1" rIns="191475" wrap="square" tIns="1914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3299"/>
                </a:spcAft>
                <a:buNone/>
              </a:pPr>
              <a:r>
                <a:t/>
              </a:r>
              <a:endParaRPr b="1" sz="1728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7" name="Google Shape;237;p21"/>
            <p:cNvSpPr txBox="1"/>
            <p:nvPr/>
          </p:nvSpPr>
          <p:spPr>
            <a:xfrm>
              <a:off x="594488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91475" lIns="191475" spcFirstLastPara="1" rIns="191475" wrap="square" tIns="1914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42">
                  <a:solidFill>
                    <a:srgbClr val="028090"/>
                  </a:solidFill>
                  <a:latin typeface="Georgia"/>
                  <a:ea typeface="Georgia"/>
                  <a:cs typeface="Georgia"/>
                  <a:sym typeface="Georgia"/>
                </a:rPr>
                <a:t>dashboard</a:t>
              </a:r>
              <a:endParaRPr b="1" sz="2742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38" name="Google Shape;238;p21"/>
            <p:cNvSpPr txBox="1"/>
            <p:nvPr/>
          </p:nvSpPr>
          <p:spPr>
            <a:xfrm>
              <a:off x="571536" y="3117727"/>
              <a:ext cx="17550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1475" lIns="191475" spcFirstLastPara="1" rIns="191475" wrap="square" tIns="191475">
              <a:noAutofit/>
            </a:bodyPr>
            <a:lstStyle/>
            <a:p>
              <a:pPr indent="-363718" lvl="0" marL="45720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2128"/>
                <a:buFont typeface="Georgia"/>
                <a:buChar char="●"/>
              </a:pPr>
              <a:r>
                <a:rPr lang="en-US" sz="2128">
                  <a:solidFill>
                    <a:srgbClr val="999999"/>
                  </a:solidFill>
                  <a:latin typeface="Georgia"/>
                  <a:ea typeface="Georgia"/>
                  <a:cs typeface="Georgia"/>
                  <a:sym typeface="Georgia"/>
                </a:rPr>
                <a:t>vue + vite</a:t>
              </a:r>
              <a:endParaRPr sz="2128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39" name="Google Shape;239;p21"/>
          <p:cNvGrpSpPr/>
          <p:nvPr/>
        </p:nvGrpSpPr>
        <p:grpSpPr>
          <a:xfrm>
            <a:off x="8714801" y="2382565"/>
            <a:ext cx="3579551" cy="3637555"/>
            <a:chOff x="4781408" y="2118324"/>
            <a:chExt cx="1709106" cy="1736801"/>
          </a:xfrm>
        </p:grpSpPr>
        <p:sp>
          <p:nvSpPr>
            <p:cNvPr id="240" name="Google Shape;240;p21"/>
            <p:cNvSpPr txBox="1"/>
            <p:nvPr/>
          </p:nvSpPr>
          <p:spPr>
            <a:xfrm>
              <a:off x="4781413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91475" lIns="191475" spcFirstLastPara="1" rIns="191475" wrap="square" tIns="1914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42">
                  <a:solidFill>
                    <a:srgbClr val="028090"/>
                  </a:solidFill>
                  <a:latin typeface="Georgia"/>
                  <a:ea typeface="Georgia"/>
                  <a:cs typeface="Georgia"/>
                  <a:sym typeface="Georgia"/>
                </a:rPr>
                <a:t>predict</a:t>
              </a:r>
              <a:endParaRPr b="1" sz="2742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41" name="Google Shape;241;p21"/>
            <p:cNvSpPr txBox="1"/>
            <p:nvPr/>
          </p:nvSpPr>
          <p:spPr>
            <a:xfrm>
              <a:off x="4781408" y="3117725"/>
              <a:ext cx="17091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1475" lIns="191475" spcFirstLastPara="1" rIns="191475" wrap="square" tIns="191475">
              <a:noAutofit/>
            </a:bodyPr>
            <a:lstStyle/>
            <a:p>
              <a:pPr indent="-361950" lvl="0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100"/>
                <a:buFont typeface="Georgia"/>
                <a:buChar char="●"/>
              </a:pPr>
              <a:r>
                <a:rPr lang="en-US" sz="2100">
                  <a:latin typeface="Georgia"/>
                  <a:ea typeface="Georgia"/>
                  <a:cs typeface="Georgia"/>
                  <a:sym typeface="Georgia"/>
                </a:rPr>
                <a:t>predict.py</a:t>
              </a:r>
              <a:endParaRPr sz="2100">
                <a:solidFill>
                  <a:srgbClr val="85858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-361950" lvl="0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100"/>
                <a:buFont typeface="Georgia"/>
                <a:buChar char="●"/>
              </a:pPr>
              <a:r>
                <a:rPr lang="en-US" sz="2100">
                  <a:solidFill>
                    <a:srgbClr val="1F2328"/>
                  </a:solidFill>
                  <a:latin typeface="Georgia"/>
                  <a:ea typeface="Georgia"/>
                  <a:cs typeface="Georgia"/>
                  <a:sym typeface="Georgia"/>
                </a:rPr>
                <a:t>final_model.pkl</a:t>
              </a:r>
              <a:r>
                <a:rPr lang="en-US" sz="2100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 </a:t>
              </a:r>
              <a:endParaRPr sz="2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-361950" lvl="0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2328"/>
                </a:buClr>
                <a:buSzPts val="2100"/>
                <a:buFont typeface="Georgia"/>
                <a:buChar char="●"/>
              </a:pPr>
              <a:r>
                <a:rPr lang="en-US" sz="2100">
                  <a:solidFill>
                    <a:srgbClr val="1F2328"/>
                  </a:solidFill>
                  <a:latin typeface="Georgia"/>
                  <a:ea typeface="Georgia"/>
                  <a:cs typeface="Georgia"/>
                  <a:sym typeface="Georgia"/>
                </a:rPr>
                <a:t>label_encoder.pkl</a:t>
              </a:r>
              <a:endParaRPr sz="2100">
                <a:solidFill>
                  <a:srgbClr val="1F2328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-361950" lvl="0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2100"/>
                <a:buFont typeface="Georgia"/>
                <a:buChar char="●"/>
              </a:pPr>
              <a:r>
                <a:rPr lang="en-US" sz="2100">
                  <a:solidFill>
                    <a:srgbClr val="1F2328"/>
                  </a:solidFill>
                  <a:latin typeface="Georgia"/>
                  <a:ea typeface="Georgia"/>
                  <a:cs typeface="Georgia"/>
                  <a:sym typeface="Georgia"/>
                </a:rPr>
                <a:t>threshold.json</a:t>
              </a:r>
              <a:r>
                <a:rPr lang="en-US" sz="2100">
                  <a:solidFill>
                    <a:schemeClr val="dk1"/>
                  </a:solidFill>
                  <a:latin typeface="Georgia"/>
                  <a:ea typeface="Georgia"/>
                  <a:cs typeface="Georgia"/>
                  <a:sym typeface="Georgia"/>
                </a:rPr>
                <a:t>  </a:t>
              </a:r>
              <a:endParaRPr sz="2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5417558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1475" lIns="191475" spcFirstLastPara="1" rIns="191475" wrap="square" tIns="1914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3299"/>
                </a:spcAft>
                <a:buNone/>
              </a:pPr>
              <a:r>
                <a:t/>
              </a:r>
              <a:endParaRPr b="1" sz="1728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43" name="Google Shape;243;p21"/>
          <p:cNvSpPr/>
          <p:nvPr/>
        </p:nvSpPr>
        <p:spPr>
          <a:xfrm>
            <a:off x="7784232" y="2654202"/>
            <a:ext cx="1244700" cy="5742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191475" lIns="191475" spcFirstLastPara="1" rIns="191475" wrap="square" tIns="191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99"/>
          </a:p>
        </p:txBody>
      </p:sp>
      <p:pic>
        <p:nvPicPr>
          <p:cNvPr id="244" name="Google Shape;2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2675" y="2102188"/>
            <a:ext cx="2702776" cy="167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141" y="2209813"/>
            <a:ext cx="2465109" cy="1462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1"/>
          <p:cNvGrpSpPr/>
          <p:nvPr/>
        </p:nvGrpSpPr>
        <p:grpSpPr>
          <a:xfrm>
            <a:off x="4354292" y="2382565"/>
            <a:ext cx="3579545" cy="3637560"/>
            <a:chOff x="2699423" y="2118324"/>
            <a:chExt cx="1709103" cy="1736803"/>
          </a:xfrm>
        </p:grpSpPr>
        <p:sp>
          <p:nvSpPr>
            <p:cNvPr id="247" name="Google Shape;247;p21"/>
            <p:cNvSpPr txBox="1"/>
            <p:nvPr/>
          </p:nvSpPr>
          <p:spPr>
            <a:xfrm>
              <a:off x="2699425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91475" lIns="191475" spcFirstLastPara="1" rIns="191475" wrap="square" tIns="1914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742">
                  <a:solidFill>
                    <a:srgbClr val="0F3D4C"/>
                  </a:solidFill>
                  <a:latin typeface="Georgia"/>
                  <a:ea typeface="Georgia"/>
                  <a:cs typeface="Georgia"/>
                  <a:sym typeface="Georgia"/>
                </a:rPr>
                <a:t>API</a:t>
              </a:r>
              <a:endParaRPr b="1" sz="2742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48" name="Google Shape;248;p21"/>
            <p:cNvSpPr txBox="1"/>
            <p:nvPr/>
          </p:nvSpPr>
          <p:spPr>
            <a:xfrm>
              <a:off x="2699423" y="3117727"/>
              <a:ext cx="17091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1475" lIns="191475" spcFirstLastPara="1" rIns="191475" wrap="square" tIns="191475">
              <a:noAutofit/>
            </a:bodyPr>
            <a:lstStyle/>
            <a:p>
              <a:pPr indent="-363718" lvl="0" marL="45720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7A86"/>
                </a:buClr>
                <a:buSzPts val="2128"/>
                <a:buFont typeface="Georgia"/>
                <a:buChar char="●"/>
              </a:pPr>
              <a:r>
                <a:rPr lang="en-US" sz="2128">
                  <a:solidFill>
                    <a:srgbClr val="5E7A86"/>
                  </a:solidFill>
                  <a:latin typeface="Georgia"/>
                  <a:ea typeface="Georgia"/>
                  <a:cs typeface="Georgia"/>
                  <a:sym typeface="Georgia"/>
                </a:rPr>
                <a:t>FastAPI</a:t>
              </a:r>
              <a:endParaRPr sz="2128">
                <a:solidFill>
                  <a:srgbClr val="5E7A86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49" name="Google Shape;249;p21"/>
            <p:cNvSpPr txBox="1"/>
            <p:nvPr/>
          </p:nvSpPr>
          <p:spPr>
            <a:xfrm>
              <a:off x="3335573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1475" lIns="191475" spcFirstLastPara="1" rIns="191475" wrap="square" tIns="1914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3299"/>
                </a:spcAft>
                <a:buNone/>
              </a:pPr>
              <a:r>
                <a:t/>
              </a:r>
              <a:endParaRPr b="1" sz="1728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50" name="Google Shape;25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15875" y="2168400"/>
            <a:ext cx="2749926" cy="154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"/>
          <p:cNvSpPr/>
          <p:nvPr/>
        </p:nvSpPr>
        <p:spPr>
          <a:xfrm>
            <a:off x="548640" y="274320"/>
            <a:ext cx="1106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548640" y="594360"/>
            <a:ext cx="11064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FastAPI Design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240750"/>
            <a:ext cx="8881099" cy="55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/>
          <p:nvPr/>
        </p:nvSpPr>
        <p:spPr>
          <a:xfrm>
            <a:off x="637950" y="3767925"/>
            <a:ext cx="8643900" cy="2940600"/>
          </a:xfrm>
          <a:prstGeom prst="rect">
            <a:avLst/>
          </a:prstGeom>
          <a:noFill/>
          <a:ln cap="flat" cmpd="sng" w="95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2"/>
          <p:cNvSpPr/>
          <p:nvPr/>
        </p:nvSpPr>
        <p:spPr>
          <a:xfrm>
            <a:off x="637950" y="3112900"/>
            <a:ext cx="8643900" cy="320100"/>
          </a:xfrm>
          <a:prstGeom prst="rect">
            <a:avLst/>
          </a:prstGeom>
          <a:noFill/>
          <a:ln cap="flat" cmpd="sng" w="95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637950" y="3433000"/>
            <a:ext cx="8643900" cy="320100"/>
          </a:xfrm>
          <a:prstGeom prst="rect">
            <a:avLst/>
          </a:prstGeom>
          <a:noFill/>
          <a:ln cap="flat" cmpd="sng" w="95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12575"/>
            <a:ext cx="8911423" cy="439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/>
          <p:nvPr/>
        </p:nvSpPr>
        <p:spPr>
          <a:xfrm>
            <a:off x="548640" y="274320"/>
            <a:ext cx="1106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548640" y="594360"/>
            <a:ext cx="11064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FastAPI Design - route protection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7097225" y="3139925"/>
            <a:ext cx="857400" cy="320100"/>
          </a:xfrm>
          <a:prstGeom prst="rect">
            <a:avLst/>
          </a:prstGeom>
          <a:noFill/>
          <a:ln cap="flat" cmpd="sng" w="95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7175" y="274324"/>
            <a:ext cx="2823374" cy="2877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23"/>
          <p:cNvCxnSpPr/>
          <p:nvPr/>
        </p:nvCxnSpPr>
        <p:spPr>
          <a:xfrm flipH="1">
            <a:off x="7705175" y="1843100"/>
            <a:ext cx="1746000" cy="139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3" name="Google Shape;273;p23"/>
          <p:cNvSpPr/>
          <p:nvPr/>
        </p:nvSpPr>
        <p:spPr>
          <a:xfrm>
            <a:off x="1240325" y="3827725"/>
            <a:ext cx="6735600" cy="2877900"/>
          </a:xfrm>
          <a:prstGeom prst="rect">
            <a:avLst/>
          </a:prstGeom>
          <a:noFill/>
          <a:ln cap="flat" cmpd="sng" w="95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/>
          <p:nvPr/>
        </p:nvSpPr>
        <p:spPr>
          <a:xfrm>
            <a:off x="308615" y="-26289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3400"/>
              <a:buFont typeface="Georgia"/>
              <a:buNone/>
            </a:pPr>
            <a:r>
              <a:t/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841"/>
            <a:ext cx="12191998" cy="686166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 txBox="1"/>
          <p:nvPr/>
        </p:nvSpPr>
        <p:spPr>
          <a:xfrm>
            <a:off x="455250" y="6367225"/>
            <a:ext cx="1128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4"/>
              </a:rPr>
              <a:t>https://platform.who.int/docs/default-source/mca-documents/policy-documents/operational-guidance/EGY-CC-10-01-OPERATIONALGUIDANCE-2015-eng-Practice-Guidelines-Family-Physicians-All-Vols.pdf</a:t>
            </a:r>
            <a:r>
              <a:rPr lang="en-US" sz="1000" u="sng">
                <a:solidFill>
                  <a:schemeClr val="hlink"/>
                </a:solidFill>
              </a:rPr>
              <a:t> p275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841"/>
            <a:ext cx="12191998" cy="6861666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/>
          <p:nvPr/>
        </p:nvSpPr>
        <p:spPr>
          <a:xfrm>
            <a:off x="563840" y="29336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TUG Seconds Suggestion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 txBox="1"/>
          <p:nvPr/>
        </p:nvSpPr>
        <p:spPr>
          <a:xfrm>
            <a:off x="3771058" y="6098400"/>
            <a:ext cx="557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https://www.cdc.gov/steadi/pdf/Steadi-Coordinated-Care-Plan.pdf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p17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"/>
          <p:cNvSpPr/>
          <p:nvPr/>
        </p:nvSpPr>
        <p:spPr>
          <a:xfrm>
            <a:off x="548640" y="27432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DELIVERABLE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Website Design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7" name="Google Shape;297;p26"/>
          <p:cNvGrpSpPr/>
          <p:nvPr/>
        </p:nvGrpSpPr>
        <p:grpSpPr>
          <a:xfrm>
            <a:off x="239249" y="1641074"/>
            <a:ext cx="11772501" cy="4742707"/>
            <a:chOff x="-743194" y="1454394"/>
            <a:chExt cx="13299255" cy="5357780"/>
          </a:xfrm>
        </p:grpSpPr>
        <p:pic>
          <p:nvPicPr>
            <p:cNvPr id="298" name="Google Shape;298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87150" y="1454394"/>
              <a:ext cx="9027876" cy="53577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" name="Google Shape;299;p26"/>
            <p:cNvSpPr/>
            <p:nvPr/>
          </p:nvSpPr>
          <p:spPr>
            <a:xfrm>
              <a:off x="2067875" y="4541450"/>
              <a:ext cx="2807400" cy="1635900"/>
            </a:xfrm>
            <a:prstGeom prst="roundRect">
              <a:avLst>
                <a:gd fmla="val 16667" name="adj"/>
              </a:avLst>
            </a:prstGeom>
            <a:noFill/>
            <a:ln cap="flat" cmpd="sng" w="67450">
              <a:solidFill>
                <a:srgbClr val="02C3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0925" lIns="80925" spcFirstLastPara="1" rIns="80925" wrap="square" tIns="80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9"/>
            </a:p>
          </p:txBody>
        </p:sp>
        <p:sp>
          <p:nvSpPr>
            <p:cNvPr id="300" name="Google Shape;300;p26"/>
            <p:cNvSpPr/>
            <p:nvPr/>
          </p:nvSpPr>
          <p:spPr>
            <a:xfrm>
              <a:off x="5852150" y="4510625"/>
              <a:ext cx="2807400" cy="1635900"/>
            </a:xfrm>
            <a:prstGeom prst="roundRect">
              <a:avLst>
                <a:gd fmla="val 16667" name="adj"/>
              </a:avLst>
            </a:prstGeom>
            <a:noFill/>
            <a:ln cap="flat" cmpd="sng" w="67450">
              <a:solidFill>
                <a:srgbClr val="02C3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0925" lIns="80925" spcFirstLastPara="1" rIns="80925" wrap="square" tIns="80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9"/>
            </a:p>
          </p:txBody>
        </p:sp>
        <p:cxnSp>
          <p:nvCxnSpPr>
            <p:cNvPr id="301" name="Google Shape;301;p26"/>
            <p:cNvCxnSpPr/>
            <p:nvPr/>
          </p:nvCxnSpPr>
          <p:spPr>
            <a:xfrm rot="10800000">
              <a:off x="732875" y="4358225"/>
              <a:ext cx="1335000" cy="700200"/>
            </a:xfrm>
            <a:prstGeom prst="straightConnector1">
              <a:avLst/>
            </a:prstGeom>
            <a:noFill/>
            <a:ln cap="flat" cmpd="sng" w="84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2" name="Google Shape;302;p26"/>
            <p:cNvCxnSpPr/>
            <p:nvPr/>
          </p:nvCxnSpPr>
          <p:spPr>
            <a:xfrm flipH="1" rot="10800000">
              <a:off x="8657575" y="4639700"/>
              <a:ext cx="2048400" cy="477600"/>
            </a:xfrm>
            <a:prstGeom prst="straightConnector1">
              <a:avLst/>
            </a:prstGeom>
            <a:noFill/>
            <a:ln cap="flat" cmpd="sng" w="84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03" name="Google Shape;303;p26"/>
            <p:cNvSpPr txBox="1"/>
            <p:nvPr/>
          </p:nvSpPr>
          <p:spPr>
            <a:xfrm>
              <a:off x="-743194" y="3801012"/>
              <a:ext cx="2263500" cy="55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925" lIns="80925" spcFirstLastPara="1" rIns="80925" wrap="square" tIns="809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9">
                  <a:latin typeface="Georgia"/>
                  <a:ea typeface="Georgia"/>
                  <a:cs typeface="Georgia"/>
                  <a:sym typeface="Georgia"/>
                </a:rPr>
                <a:t>Personal use</a:t>
              </a:r>
              <a:endParaRPr sz="2139"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04" name="Google Shape;304;p26"/>
            <p:cNvSpPr txBox="1"/>
            <p:nvPr/>
          </p:nvSpPr>
          <p:spPr>
            <a:xfrm>
              <a:off x="10292561" y="3801012"/>
              <a:ext cx="2263500" cy="9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925" lIns="80925" spcFirstLastPara="1" rIns="80925" wrap="square" tIns="809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9">
                  <a:latin typeface="Georgia"/>
                  <a:ea typeface="Georgia"/>
                  <a:cs typeface="Georgia"/>
                  <a:sym typeface="Georgia"/>
                </a:rPr>
                <a:t>For use by nursing staff</a:t>
              </a:r>
              <a:endParaRPr sz="2139"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7"/>
          <p:cNvGrpSpPr/>
          <p:nvPr/>
        </p:nvGrpSpPr>
        <p:grpSpPr>
          <a:xfrm>
            <a:off x="1229323" y="537222"/>
            <a:ext cx="7183478" cy="6056606"/>
            <a:chOff x="2335825" y="152325"/>
            <a:chExt cx="7772644" cy="6553350"/>
          </a:xfrm>
        </p:grpSpPr>
        <p:pic>
          <p:nvPicPr>
            <p:cNvPr id="311" name="Google Shape;311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35825" y="152325"/>
              <a:ext cx="7772644" cy="65531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27"/>
            <p:cNvSpPr/>
            <p:nvPr/>
          </p:nvSpPr>
          <p:spPr>
            <a:xfrm>
              <a:off x="2442675" y="752475"/>
              <a:ext cx="4103100" cy="5953200"/>
            </a:xfrm>
            <a:prstGeom prst="roundRect">
              <a:avLst>
                <a:gd fmla="val 16667" name="adj"/>
              </a:avLst>
            </a:prstGeom>
            <a:noFill/>
            <a:ln cap="flat" cmpd="sng" w="70425">
              <a:solidFill>
                <a:srgbClr val="02C3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500" lIns="84500" spcFirstLastPara="1" rIns="84500" wrap="square" tIns="84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4"/>
            </a:p>
          </p:txBody>
        </p:sp>
        <p:sp>
          <p:nvSpPr>
            <p:cNvPr id="313" name="Google Shape;313;p27"/>
            <p:cNvSpPr/>
            <p:nvPr/>
          </p:nvSpPr>
          <p:spPr>
            <a:xfrm>
              <a:off x="6787172" y="211190"/>
              <a:ext cx="2943900" cy="484200"/>
            </a:xfrm>
            <a:prstGeom prst="roundRect">
              <a:avLst>
                <a:gd fmla="val 16667" name="adj"/>
              </a:avLst>
            </a:prstGeom>
            <a:noFill/>
            <a:ln cap="flat" cmpd="sng" w="70425">
              <a:solidFill>
                <a:srgbClr val="02C3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500" lIns="84500" spcFirstLastPara="1" rIns="84500" wrap="square" tIns="84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4"/>
            </a:p>
          </p:txBody>
        </p:sp>
      </p:grpSp>
      <p:sp>
        <p:nvSpPr>
          <p:cNvPr id="314" name="Google Shape;314;p27"/>
          <p:cNvSpPr txBox="1"/>
          <p:nvPr/>
        </p:nvSpPr>
        <p:spPr>
          <a:xfrm>
            <a:off x="666450" y="1523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DELIVERABLE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27"/>
          <p:cNvCxnSpPr/>
          <p:nvPr/>
        </p:nvCxnSpPr>
        <p:spPr>
          <a:xfrm flipH="1">
            <a:off x="5222950" y="5472450"/>
            <a:ext cx="2552100" cy="1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27"/>
          <p:cNvCxnSpPr/>
          <p:nvPr/>
        </p:nvCxnSpPr>
        <p:spPr>
          <a:xfrm flipH="1">
            <a:off x="7199625" y="837300"/>
            <a:ext cx="20706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27"/>
          <p:cNvSpPr txBox="1"/>
          <p:nvPr/>
        </p:nvSpPr>
        <p:spPr>
          <a:xfrm>
            <a:off x="9359975" y="631200"/>
            <a:ext cx="24123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Georgia"/>
                <a:ea typeface="Georgia"/>
                <a:cs typeface="Georgia"/>
                <a:sym typeface="Georgia"/>
              </a:rPr>
              <a:t>Run </a:t>
            </a:r>
            <a:r>
              <a:rPr lang="en-US" sz="2100">
                <a:latin typeface="Georgia"/>
                <a:ea typeface="Georgia"/>
                <a:cs typeface="Georgia"/>
                <a:sym typeface="Georgia"/>
              </a:rPr>
              <a:t>assessment</a:t>
            </a:r>
            <a:endParaRPr sz="2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8" name="Google Shape;318;p27"/>
          <p:cNvSpPr txBox="1"/>
          <p:nvPr/>
        </p:nvSpPr>
        <p:spPr>
          <a:xfrm>
            <a:off x="8076975" y="5212625"/>
            <a:ext cx="31371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Georgia"/>
                <a:ea typeface="Georgia"/>
                <a:cs typeface="Georgia"/>
                <a:sym typeface="Georgia"/>
              </a:rPr>
              <a:t>Data Input Form Section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/>
        </p:nvSpPr>
        <p:spPr>
          <a:xfrm>
            <a:off x="666450" y="1523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DELIVERABLE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125" y="497350"/>
            <a:ext cx="7494631" cy="63207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8"/>
          <p:cNvSpPr/>
          <p:nvPr/>
        </p:nvSpPr>
        <p:spPr>
          <a:xfrm>
            <a:off x="5377075" y="1055575"/>
            <a:ext cx="3075900" cy="180600"/>
          </a:xfrm>
          <a:prstGeom prst="rect">
            <a:avLst/>
          </a:prstGeom>
          <a:noFill/>
          <a:ln cap="flat" cmpd="sng" w="95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8"/>
          <p:cNvSpPr/>
          <p:nvPr/>
        </p:nvSpPr>
        <p:spPr>
          <a:xfrm>
            <a:off x="5377075" y="4047025"/>
            <a:ext cx="3075900" cy="1804200"/>
          </a:xfrm>
          <a:prstGeom prst="rect">
            <a:avLst/>
          </a:prstGeom>
          <a:noFill/>
          <a:ln cap="flat" cmpd="sng" w="95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8" name="Google Shape;328;p28"/>
          <p:cNvCxnSpPr>
            <a:stCxn id="329" idx="1"/>
          </p:cNvCxnSpPr>
          <p:nvPr/>
        </p:nvCxnSpPr>
        <p:spPr>
          <a:xfrm flipH="1">
            <a:off x="7728000" y="1136875"/>
            <a:ext cx="1283100" cy="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" name="Google Shape;329;p28"/>
          <p:cNvSpPr txBox="1"/>
          <p:nvPr/>
        </p:nvSpPr>
        <p:spPr>
          <a:xfrm>
            <a:off x="9011100" y="929275"/>
            <a:ext cx="30000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Georgia"/>
                <a:ea typeface="Georgia"/>
                <a:cs typeface="Georgia"/>
                <a:sym typeface="Georgia"/>
              </a:rPr>
              <a:t>predicted fall risk level</a:t>
            </a:r>
            <a:endParaRPr sz="2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5377075" y="1236175"/>
            <a:ext cx="3075900" cy="1804200"/>
          </a:xfrm>
          <a:prstGeom prst="rect">
            <a:avLst/>
          </a:prstGeom>
          <a:noFill/>
          <a:ln cap="flat" cmpd="sng" w="95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8"/>
          <p:cNvSpPr/>
          <p:nvPr/>
        </p:nvSpPr>
        <p:spPr>
          <a:xfrm>
            <a:off x="5377075" y="3040375"/>
            <a:ext cx="3075900" cy="1006500"/>
          </a:xfrm>
          <a:prstGeom prst="rect">
            <a:avLst/>
          </a:prstGeom>
          <a:noFill/>
          <a:ln cap="flat" cmpd="sng" w="95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2" name="Google Shape;332;p28"/>
          <p:cNvCxnSpPr/>
          <p:nvPr/>
        </p:nvCxnSpPr>
        <p:spPr>
          <a:xfrm rot="10800000">
            <a:off x="7874700" y="3603475"/>
            <a:ext cx="6978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3" name="Google Shape;333;p28"/>
          <p:cNvSpPr txBox="1"/>
          <p:nvPr/>
        </p:nvSpPr>
        <p:spPr>
          <a:xfrm>
            <a:off x="8522650" y="3336013"/>
            <a:ext cx="24123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Georgia"/>
                <a:ea typeface="Georgia"/>
                <a:cs typeface="Georgia"/>
                <a:sym typeface="Georgia"/>
              </a:rPr>
              <a:t>Suggestions</a:t>
            </a:r>
            <a:endParaRPr sz="21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34" name="Google Shape;334;p28"/>
          <p:cNvCxnSpPr>
            <a:stCxn id="335" idx="1"/>
            <a:endCxn id="330" idx="3"/>
          </p:cNvCxnSpPr>
          <p:nvPr/>
        </p:nvCxnSpPr>
        <p:spPr>
          <a:xfrm rot="10800000">
            <a:off x="8452850" y="2138225"/>
            <a:ext cx="1754400" cy="15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5" name="Google Shape;335;p28"/>
          <p:cNvSpPr txBox="1"/>
          <p:nvPr/>
        </p:nvSpPr>
        <p:spPr>
          <a:xfrm>
            <a:off x="10207250" y="3450125"/>
            <a:ext cx="27906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Georgia"/>
                <a:ea typeface="Georgia"/>
                <a:cs typeface="Georgia"/>
                <a:sym typeface="Georgia"/>
              </a:rPr>
              <a:t>reasons and weight</a:t>
            </a:r>
            <a:endParaRPr sz="1700"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36" name="Google Shape;336;p28"/>
          <p:cNvCxnSpPr>
            <a:stCxn id="335" idx="1"/>
            <a:endCxn id="327" idx="3"/>
          </p:cNvCxnSpPr>
          <p:nvPr/>
        </p:nvCxnSpPr>
        <p:spPr>
          <a:xfrm flipH="1">
            <a:off x="8452850" y="3657725"/>
            <a:ext cx="1754400" cy="12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29"/>
          <p:cNvGrpSpPr/>
          <p:nvPr/>
        </p:nvGrpSpPr>
        <p:grpSpPr>
          <a:xfrm>
            <a:off x="1476898" y="449404"/>
            <a:ext cx="7255291" cy="6188186"/>
            <a:chOff x="2254375" y="152400"/>
            <a:chExt cx="7683248" cy="6553199"/>
          </a:xfrm>
        </p:grpSpPr>
        <p:pic>
          <p:nvPicPr>
            <p:cNvPr id="343" name="Google Shape;343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54375" y="152400"/>
              <a:ext cx="7683248" cy="6553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p29"/>
            <p:cNvSpPr/>
            <p:nvPr/>
          </p:nvSpPr>
          <p:spPr>
            <a:xfrm>
              <a:off x="3978675" y="1420025"/>
              <a:ext cx="1747200" cy="484200"/>
            </a:xfrm>
            <a:prstGeom prst="roundRect">
              <a:avLst>
                <a:gd fmla="val 16667" name="adj"/>
              </a:avLst>
            </a:prstGeom>
            <a:noFill/>
            <a:ln cap="flat" cmpd="sng" w="71925">
              <a:solidFill>
                <a:srgbClr val="02C3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350" lIns="86350" spcFirstLastPara="1" rIns="86350" wrap="square" tIns="86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2"/>
            </a:p>
          </p:txBody>
        </p:sp>
        <p:sp>
          <p:nvSpPr>
            <p:cNvPr id="345" name="Google Shape;345;p29"/>
            <p:cNvSpPr/>
            <p:nvPr/>
          </p:nvSpPr>
          <p:spPr>
            <a:xfrm>
              <a:off x="4019825" y="5007975"/>
              <a:ext cx="1747200" cy="484200"/>
            </a:xfrm>
            <a:prstGeom prst="roundRect">
              <a:avLst>
                <a:gd fmla="val 16667" name="adj"/>
              </a:avLst>
            </a:prstGeom>
            <a:noFill/>
            <a:ln cap="flat" cmpd="sng" w="71925">
              <a:solidFill>
                <a:srgbClr val="02C3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350" lIns="86350" spcFirstLastPara="1" rIns="86350" wrap="square" tIns="86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2"/>
            </a:p>
          </p:txBody>
        </p:sp>
        <p:sp>
          <p:nvSpPr>
            <p:cNvPr id="346" name="Google Shape;346;p29"/>
            <p:cNvSpPr/>
            <p:nvPr/>
          </p:nvSpPr>
          <p:spPr>
            <a:xfrm>
              <a:off x="6109225" y="5492175"/>
              <a:ext cx="1747200" cy="484200"/>
            </a:xfrm>
            <a:prstGeom prst="roundRect">
              <a:avLst>
                <a:gd fmla="val 16667" name="adj"/>
              </a:avLst>
            </a:prstGeom>
            <a:noFill/>
            <a:ln cap="flat" cmpd="sng" w="71925">
              <a:solidFill>
                <a:srgbClr val="02C3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350" lIns="86350" spcFirstLastPara="1" rIns="86350" wrap="square" tIns="86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2"/>
            </a:p>
          </p:txBody>
        </p:sp>
      </p:grpSp>
      <p:sp>
        <p:nvSpPr>
          <p:cNvPr id="347" name="Google Shape;347;p29"/>
          <p:cNvSpPr txBox="1"/>
          <p:nvPr/>
        </p:nvSpPr>
        <p:spPr>
          <a:xfrm>
            <a:off x="902950" y="645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DELIVERABLE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2900"/>
            <a:ext cx="12191999" cy="652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0"/>
          <p:cNvSpPr/>
          <p:nvPr/>
        </p:nvSpPr>
        <p:spPr>
          <a:xfrm>
            <a:off x="9611868" y="381275"/>
            <a:ext cx="1883700" cy="4842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0"/>
          <p:cNvSpPr/>
          <p:nvPr/>
        </p:nvSpPr>
        <p:spPr>
          <a:xfrm>
            <a:off x="4767013" y="2045300"/>
            <a:ext cx="7144800" cy="3983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0"/>
          <p:cNvSpPr txBox="1"/>
          <p:nvPr/>
        </p:nvSpPr>
        <p:spPr>
          <a:xfrm>
            <a:off x="666450" y="1523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DELIVERABLE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3400" y="202875"/>
            <a:ext cx="6463499" cy="651647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/>
          <p:nvPr/>
        </p:nvSpPr>
        <p:spPr>
          <a:xfrm>
            <a:off x="2599900" y="1035825"/>
            <a:ext cx="6627000" cy="55539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4" name="Google Shape;36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79300" y="152400"/>
            <a:ext cx="2660300" cy="2809413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1"/>
          <p:cNvSpPr txBox="1"/>
          <p:nvPr/>
        </p:nvSpPr>
        <p:spPr>
          <a:xfrm>
            <a:off x="666450" y="1523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DELIVERABLE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600" y="643200"/>
            <a:ext cx="5426401" cy="573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4101" y="1409462"/>
            <a:ext cx="5680200" cy="4039076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2"/>
          <p:cNvSpPr txBox="1"/>
          <p:nvPr/>
        </p:nvSpPr>
        <p:spPr>
          <a:xfrm>
            <a:off x="666450" y="15232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DELIVERABLE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"/>
          <p:cNvSpPr/>
          <p:nvPr/>
        </p:nvSpPr>
        <p:spPr>
          <a:xfrm>
            <a:off x="548640" y="27432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HONEST REVIEW — COMMERCIAL READINESS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3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Limitations &amp; Next Steps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3"/>
          <p:cNvSpPr/>
          <p:nvPr/>
        </p:nvSpPr>
        <p:spPr>
          <a:xfrm>
            <a:off x="548640" y="1737360"/>
            <a:ext cx="5486400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6E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548640" y="1737360"/>
            <a:ext cx="82296" cy="40233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1645920" y="1993392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F3D4C"/>
                </a:solidFill>
                <a:latin typeface="Calibri"/>
                <a:ea typeface="Calibri"/>
                <a:cs typeface="Calibri"/>
                <a:sym typeface="Calibri"/>
              </a:rPr>
              <a:t>Limitations (Commercial)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1645920" y="2468880"/>
            <a:ext cx="41148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200"/>
              <a:buFont typeface="Calibri"/>
              <a:buNone/>
            </a:pPr>
            <a:r>
              <a:rPr b="1" lang="en-US" sz="2000">
                <a:solidFill>
                  <a:srgbClr val="D32F2F"/>
                </a:solidFill>
                <a:latin typeface="Calibri"/>
                <a:ea typeface="Calibri"/>
                <a:cs typeface="Calibri"/>
                <a:sym typeface="Calibri"/>
              </a:rPr>
              <a:t>Synthetic data only — no real hospital data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E7A86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2,000 samples — small for clinical deployment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E7A86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No temporal validation (new patients over time)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E7A86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Single model (LR) — no ensemble robustness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E7A86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No calibration / confidence intervals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E7A86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Privacy &amp; compliance not yet addressed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6309360" y="1737360"/>
            <a:ext cx="5303520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6E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3"/>
          <p:cNvSpPr/>
          <p:nvPr/>
        </p:nvSpPr>
        <p:spPr>
          <a:xfrm>
            <a:off x="6309360" y="1737360"/>
            <a:ext cx="82296" cy="4023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3"/>
          <p:cNvSpPr/>
          <p:nvPr/>
        </p:nvSpPr>
        <p:spPr>
          <a:xfrm>
            <a:off x="6583680" y="20116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3"/>
          <p:cNvSpPr/>
          <p:nvPr/>
        </p:nvSpPr>
        <p:spPr>
          <a:xfrm>
            <a:off x="658368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3"/>
          <p:cNvSpPr/>
          <p:nvPr/>
        </p:nvSpPr>
        <p:spPr>
          <a:xfrm>
            <a:off x="7406640" y="1993392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4C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F3D4C"/>
                </a:solidFill>
                <a:latin typeface="Calibri"/>
                <a:ea typeface="Calibri"/>
                <a:cs typeface="Calibri"/>
                <a:sym typeface="Calibri"/>
              </a:rPr>
              <a:t>Future Plan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3"/>
          <p:cNvSpPr/>
          <p:nvPr/>
        </p:nvSpPr>
        <p:spPr>
          <a:xfrm>
            <a:off x="7406640" y="2468880"/>
            <a:ext cx="39319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2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Collect REAL hospital data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E7A86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Retrain + re-validate on real samples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E7A86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Add calibration + confidence intervals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E7A86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Ensemble (LR + XGB) for robustness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E7A86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Deploy to cloud (Render/Streamlit Cloud)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E7A86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5E7A86"/>
                </a:solidFill>
                <a:latin typeface="Calibri"/>
                <a:ea typeface="Calibri"/>
                <a:cs typeface="Calibri"/>
                <a:sym typeface="Calibri"/>
              </a:rPr>
              <a:t>Compliance: data privacy (PDPO)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3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step: upload to GitHub · review with supervisor early, not last minute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3D4C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4"/>
          <p:cNvSpPr txBox="1"/>
          <p:nvPr/>
        </p:nvSpPr>
        <p:spPr>
          <a:xfrm>
            <a:off x="1011150" y="2784050"/>
            <a:ext cx="10169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Demonstration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5"/>
          <p:cNvSpPr/>
          <p:nvPr/>
        </p:nvSpPr>
        <p:spPr>
          <a:xfrm>
            <a:off x="548640" y="274320"/>
            <a:ext cx="1106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 – FEATURE </a:t>
            </a: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5"/>
          <p:cNvSpPr txBox="1"/>
          <p:nvPr/>
        </p:nvSpPr>
        <p:spPr>
          <a:xfrm>
            <a:off x="672100" y="870950"/>
            <a:ext cx="10941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Efficacy of a Student-Led, Community-Based, Multifactorial Fall Prevention Program: Stay in Balance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2038" y="1947875"/>
            <a:ext cx="9581128" cy="3489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5"/>
          <p:cNvSpPr txBox="1"/>
          <p:nvPr/>
        </p:nvSpPr>
        <p:spPr>
          <a:xfrm>
            <a:off x="1760350" y="5966450"/>
            <a:ext cx="876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4"/>
              </a:rPr>
              <a:t>https://www.frontiersin.org/journals/public-health/articles/10.3389/fpubh.2017.00030/full?utm_source=chatgpt.com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5"/>
              </a:rPr>
              <a:t>https://www.who.int/health-topics/ageing/improving-understanding-measurement-and-monitoring-of-healthy-ageing?utm_source=chatgpt.com#tab=tab_1</a:t>
            </a:r>
            <a:endParaRPr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6"/>
          <p:cNvSpPr/>
          <p:nvPr/>
        </p:nvSpPr>
        <p:spPr>
          <a:xfrm>
            <a:off x="709890" y="56885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APPENDIX – FEATURE EXPLANATION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5" name="Google Shape;41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650" y="879775"/>
            <a:ext cx="9599976" cy="542954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6"/>
          <p:cNvSpPr txBox="1"/>
          <p:nvPr/>
        </p:nvSpPr>
        <p:spPr>
          <a:xfrm>
            <a:off x="3454750" y="6272200"/>
            <a:ext cx="525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4"/>
              </a:rPr>
              <a:t>https://www.frontiersin.org/journals/public-health/articles/10.3389/fpubh.2017.00030/full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7"/>
          <p:cNvSpPr/>
          <p:nvPr/>
        </p:nvSpPr>
        <p:spPr>
          <a:xfrm>
            <a:off x="548640" y="59436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Orthostatic</a:t>
            </a: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 Hypotension</a:t>
            </a:r>
            <a:endParaRPr b="1" sz="3400">
              <a:solidFill>
                <a:srgbClr val="0F3D4C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23" name="Google Shape;4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12191998" cy="68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7"/>
          <p:cNvSpPr txBox="1"/>
          <p:nvPr/>
        </p:nvSpPr>
        <p:spPr>
          <a:xfrm>
            <a:off x="2511225" y="6279875"/>
            <a:ext cx="7974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Mol A, et al. “Orthostatic Hypotension and Falls in Older Adults: A Systematic Review and Meta-analysis.” </a:t>
            </a:r>
            <a:r>
              <a:rPr i="1" lang="en-US" sz="1100">
                <a:solidFill>
                  <a:schemeClr val="dk1"/>
                </a:solidFill>
              </a:rPr>
              <a:t>Journal of the American Medical Directors Association.</a:t>
            </a:r>
            <a:r>
              <a:rPr lang="en-US" sz="1100">
                <a:solidFill>
                  <a:schemeClr val="dk1"/>
                </a:solidFill>
              </a:rPr>
              <a:t> 2019;20(5):589–597.e5. </a:t>
            </a:r>
            <a:r>
              <a:rPr lang="en-US" sz="1100" u="sng">
                <a:solidFill>
                  <a:schemeClr val="hlink"/>
                </a:solidFill>
                <a:hlinkClick r:id="rId4"/>
              </a:rPr>
              <a:t>https://pubmed.ncbi.nlm.nih.gov/30583909/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425" name="Google Shape;425;p37"/>
          <p:cNvSpPr txBox="1"/>
          <p:nvPr/>
        </p:nvSpPr>
        <p:spPr>
          <a:xfrm>
            <a:off x="666450" y="2094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APPENDIX – FEATURE EXPLANATION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BF9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8"/>
          <p:cNvSpPr/>
          <p:nvPr/>
        </p:nvSpPr>
        <p:spPr>
          <a:xfrm>
            <a:off x="548640" y="59436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00">
                <a:solidFill>
                  <a:srgbClr val="0F3D4C"/>
                </a:solidFill>
                <a:latin typeface="Georgia"/>
                <a:ea typeface="Georgia"/>
                <a:cs typeface="Georgia"/>
                <a:sym typeface="Georgia"/>
              </a:rPr>
              <a:t>Orthostatic Hypotension distributed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2" name="Google Shape;43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8"/>
          <p:cNvSpPr txBox="1"/>
          <p:nvPr/>
        </p:nvSpPr>
        <p:spPr>
          <a:xfrm>
            <a:off x="1341225" y="6316450"/>
            <a:ext cx="963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Saedon NI, et al.</a:t>
            </a:r>
            <a:r>
              <a:rPr lang="en-US" sz="1000">
                <a:solidFill>
                  <a:schemeClr val="dk1"/>
                </a:solidFill>
              </a:rPr>
              <a:t> Prevalence of initial orthostatic hypotension in older adults: a systematic review and meta-analysis. </a:t>
            </a:r>
            <a:r>
              <a:rPr i="1" lang="en-US" sz="1000">
                <a:solidFill>
                  <a:schemeClr val="dk1"/>
                </a:solidFill>
              </a:rPr>
              <a:t>Age and Ageing.</a:t>
            </a:r>
            <a:r>
              <a:rPr lang="en-US" sz="1000">
                <a:solidFill>
                  <a:schemeClr val="dk1"/>
                </a:solidFill>
              </a:rPr>
              <a:t> 2021;50(5):1520–1528.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4"/>
              </a:rPr>
              <a:t>https://pubmed.ncbi.nlm.nih.gov/34260686/</a:t>
            </a:r>
            <a:r>
              <a:rPr lang="en-US" sz="1000">
                <a:solidFill>
                  <a:schemeClr val="dk1"/>
                </a:solidFill>
              </a:rPr>
              <a:t> </a:t>
            </a:r>
            <a:endParaRPr sz="1000"/>
          </a:p>
        </p:txBody>
      </p:sp>
      <p:sp>
        <p:nvSpPr>
          <p:cNvPr id="434" name="Google Shape;434;p38"/>
          <p:cNvSpPr txBox="1"/>
          <p:nvPr/>
        </p:nvSpPr>
        <p:spPr>
          <a:xfrm>
            <a:off x="687950" y="2094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APPENDIX – FEATURE EXPLANATION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